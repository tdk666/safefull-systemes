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B2FD70-84A1-94C0-125E-0DC770EA61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6771083-A3BF-61E1-0C94-5693AD140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07AEC0-A2C1-1530-F9D4-723E17AEC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3B0C-1200-4476-8BE0-F3DF7BA71CF4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99E377-B63E-1229-D46E-C280F459D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6E409E-854E-5C80-AC1F-59C110E87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923F-9371-466C-BB2F-7705924D09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8039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3C5BF4-D038-22C1-8849-65F5D3ADE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442E61-4F90-E73D-FC71-09EE5DD20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3DCBEE-647B-AD50-232C-3B3625CA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3B0C-1200-4476-8BE0-F3DF7BA71CF4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192168-11AA-116E-EB20-65C7258D7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31E23B-E7D9-34C6-1D69-C29802B76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923F-9371-466C-BB2F-7705924D09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1600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987B02-E9C8-9BFF-A7EF-342C6CC59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28C5544-EF6F-F32E-13CE-11D3BC3A8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3D5E9F-B8D1-07A7-45E4-1CD934B11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3B0C-1200-4476-8BE0-F3DF7BA71CF4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A883B6-1C72-11E8-BEB6-C0E1059E1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7D2888-9395-12BB-1DAB-84A81AB33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923F-9371-466C-BB2F-7705924D09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9960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173501-B8D5-7816-FBC3-44F90D432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397752-B562-B4E1-5289-85DFEE5A59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C328E01-DF63-AF09-72DA-393BBF0F7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44FCDB5-63D9-2F56-D101-DF50D815A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3B0C-1200-4476-8BE0-F3DF7BA71CF4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31A5272-4B6E-C8DE-320D-906E38687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F3EA7D-7D1C-5A32-96A4-49647EE3B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923F-9371-466C-BB2F-7705924D09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5529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9FB5D6-4B29-BEA9-F804-7833A2C21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9C163D-6F70-3291-46FA-BE6511170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759F4BF-B6A7-ED11-6865-1362AA7CE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8918442-6D59-EC18-415D-91AE2B7A1C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73FF340-C5E4-5236-A53D-724F5607C2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CBFF984-433C-7682-781E-FD88DB513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3B0C-1200-4476-8BE0-F3DF7BA71CF4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2ED9ED1-29BA-CD25-3493-B1CC8884E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12B7C2E-3E0E-3435-0439-117DA0AE4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923F-9371-466C-BB2F-7705924D09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5720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5F4AF2-5B39-6E58-C309-3C09EF917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5963E65-2FEA-586B-6A33-8CA06E7DA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3B0C-1200-4476-8BE0-F3DF7BA71CF4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B6764C2-F0AC-7398-EAAD-42E84F6ED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7E11DA1-8DF0-49D7-4EA4-F17BD0021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923F-9371-466C-BB2F-7705924D09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970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65B3104-D865-43DB-1A16-FA9679C68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3B0C-1200-4476-8BE0-F3DF7BA71CF4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9CC99AC-4A63-181B-F4CE-7D9FEE8CF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9C0733-4459-0A2E-31AC-FC36C1812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923F-9371-466C-BB2F-7705924D09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5244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C0977C-FEB6-D348-0486-3D800C09B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56E636-82AB-2BA7-8C1A-F00DD592D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7564017-ACB4-B793-D3CE-312AE6F8FD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B0652DB-05B8-0B56-AC49-D7890B1E5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3B0C-1200-4476-8BE0-F3DF7BA71CF4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A85FFFC-5FAA-D5BC-C5B8-B6318E42F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84C27BF-26CF-B932-73DE-CF9297A63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923F-9371-466C-BB2F-7705924D09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5834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665D63-D009-E6ED-1C13-0899C6A7A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64B1C3B-AF16-D062-ABF5-7EAC4165BC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0553F93-59ED-3F32-99CB-FF5E61AED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62D0080-D3D0-6F35-F99D-07B8005D0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3B0C-1200-4476-8BE0-F3DF7BA71CF4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86029AE-DD97-C0E3-EAA8-0F41BB57E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01F35FA-D430-3DF4-0A4C-22C9B70BE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923F-9371-466C-BB2F-7705924D09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4224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6FD394-0A08-29CB-3B6C-57D81AC1C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078B8FE-0211-E835-B385-749193010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C44783-DFEB-A1FB-3E8F-19025F616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3B0C-1200-4476-8BE0-F3DF7BA71CF4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ADACC8-DA23-F803-7F03-CD687B4A2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1358C2-E586-B04B-9253-673DC0DF1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923F-9371-466C-BB2F-7705924D09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9627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F1DBFF3-E065-3780-B2E1-062A8FE709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2467907-F942-AAEB-E359-21E488250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D53F847-D408-68DF-5446-3227C8100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3B0C-1200-4476-8BE0-F3DF7BA71CF4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F32ADB-5F17-CAFF-1A11-66D6F751F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DF5ECA-9142-5C8A-392C-5C38AF4E2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923F-9371-466C-BB2F-7705924D09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797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96D7F81-D60A-D48D-F9BF-53830FC74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81C1E0A-C525-8F59-8F59-E5381A4AB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010F7C5-847D-D081-1CEE-FFD681F2B2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13B0C-1200-4476-8BE0-F3DF7BA71CF4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09FFC53-CDD9-7D59-4CB6-4EFB8361E1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E009C0-4A49-A5F5-69AF-6F1F8A37BC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2923F-9371-466C-BB2F-7705924D09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018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1">
            <a:extLst>
              <a:ext uri="{FF2B5EF4-FFF2-40B4-BE49-F238E27FC236}">
                <a16:creationId xmlns:a16="http://schemas.microsoft.com/office/drawing/2014/main" id="{D81898DF-EC82-492E-949A-D98265FD8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973" y="719388"/>
            <a:ext cx="7595419" cy="414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79A7BD0D-912C-0D3D-43D8-99CECF3AE60C}"/>
              </a:ext>
            </a:extLst>
          </p:cNvPr>
          <p:cNvSpPr txBox="1"/>
          <p:nvPr/>
        </p:nvSpPr>
        <p:spPr>
          <a:xfrm>
            <a:off x="2465084" y="117676"/>
            <a:ext cx="73720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4000" b="1" i="1" dirty="0" err="1">
                <a:solidFill>
                  <a:srgbClr val="000000"/>
                </a:solidFill>
                <a:latin typeface="Calibri" pitchFamily="32" charset="0"/>
              </a:rPr>
              <a:t>MutualDroid</a:t>
            </a:r>
            <a:r>
              <a:rPr lang="fr-FR" sz="4000" b="1" i="1" dirty="0">
                <a:solidFill>
                  <a:srgbClr val="000000"/>
                </a:solidFill>
                <a:latin typeface="Calibri" pitchFamily="32" charset="0"/>
              </a:rPr>
              <a:t> </a:t>
            </a:r>
            <a:r>
              <a:rPr lang="fr-FR" sz="2400" b="1" i="1" dirty="0">
                <a:solidFill>
                  <a:srgbClr val="000000"/>
                </a:solidFill>
                <a:latin typeface="Calibri" pitchFamily="32" charset="0"/>
              </a:rPr>
              <a:t>&amp; </a:t>
            </a:r>
            <a:r>
              <a:rPr lang="fr-FR" sz="4000" b="1" i="1" dirty="0" err="1">
                <a:solidFill>
                  <a:srgbClr val="000000"/>
                </a:solidFill>
                <a:latin typeface="Calibri" pitchFamily="32" charset="0"/>
              </a:rPr>
              <a:t>MobeeWeb</a:t>
            </a:r>
            <a:r>
              <a:rPr lang="fr-FR" sz="4000" b="1" i="1" dirty="0">
                <a:solidFill>
                  <a:srgbClr val="000000"/>
                </a:solidFill>
                <a:latin typeface="Calibri" pitchFamily="32" charset="0"/>
              </a:rPr>
              <a:t>   </a:t>
            </a:r>
            <a:r>
              <a:rPr lang="fr-FR" sz="2400" i="1" dirty="0">
                <a:solidFill>
                  <a:srgbClr val="0070C0"/>
                </a:solidFill>
                <a:latin typeface="Calibri" pitchFamily="32" charset="0"/>
              </a:rPr>
              <a:t>by</a:t>
            </a:r>
            <a:endParaRPr lang="fr-FR" sz="2400" dirty="0">
              <a:solidFill>
                <a:srgbClr val="0070C0"/>
              </a:solidFill>
              <a:latin typeface="Calibri" pitchFamily="32" charset="0"/>
            </a:endParaRP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F33C45B3-77F3-AE69-3733-A91911CA5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733" y="238634"/>
            <a:ext cx="1618949" cy="1079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" name="Oval 2">
            <a:extLst>
              <a:ext uri="{FF2B5EF4-FFF2-40B4-BE49-F238E27FC236}">
                <a16:creationId xmlns:a16="http://schemas.microsoft.com/office/drawing/2014/main" id="{29542BC6-E0E2-FCF8-F51E-ED085236E92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465083" y="3519796"/>
            <a:ext cx="215900" cy="215900"/>
          </a:xfrm>
          <a:prstGeom prst="ellipse">
            <a:avLst/>
          </a:prstGeom>
          <a:solidFill>
            <a:srgbClr val="00B0F0"/>
          </a:solidFill>
          <a:ln w="25560" cap="sq">
            <a:solidFill>
              <a:srgbClr val="385D8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9" name="Oval 4">
            <a:extLst>
              <a:ext uri="{FF2B5EF4-FFF2-40B4-BE49-F238E27FC236}">
                <a16:creationId xmlns:a16="http://schemas.microsoft.com/office/drawing/2014/main" id="{9EA017BF-2BBB-75CC-EC88-5659555488A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570358" y="1791008"/>
            <a:ext cx="215900" cy="215900"/>
          </a:xfrm>
          <a:prstGeom prst="ellipse">
            <a:avLst/>
          </a:prstGeom>
          <a:solidFill>
            <a:srgbClr val="00B0F0"/>
          </a:solidFill>
          <a:ln w="25560" cap="sq">
            <a:solidFill>
              <a:srgbClr val="385D8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CE0360A8-B366-A331-1C70-F63736424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4741" y="3097521"/>
            <a:ext cx="1103313" cy="156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2" name="Oval 7">
            <a:extLst>
              <a:ext uri="{FF2B5EF4-FFF2-40B4-BE49-F238E27FC236}">
                <a16:creationId xmlns:a16="http://schemas.microsoft.com/office/drawing/2014/main" id="{C259E213-2586-5C86-0751-7EDB57629B8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096658" y="2511733"/>
            <a:ext cx="217487" cy="215900"/>
          </a:xfrm>
          <a:prstGeom prst="ellipse">
            <a:avLst/>
          </a:prstGeom>
          <a:solidFill>
            <a:srgbClr val="00B0F0"/>
          </a:solidFill>
          <a:ln w="25560" cap="sq">
            <a:solidFill>
              <a:srgbClr val="385D8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pic>
        <p:nvPicPr>
          <p:cNvPr id="19" name="Picture 14">
            <a:extLst>
              <a:ext uri="{FF2B5EF4-FFF2-40B4-BE49-F238E27FC236}">
                <a16:creationId xmlns:a16="http://schemas.microsoft.com/office/drawing/2014/main" id="{B5DDD9DF-ABC8-1108-7D8D-BF742AC4B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620000">
            <a:off x="6505270" y="3921433"/>
            <a:ext cx="960438" cy="59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" name="Picture 15">
            <a:extLst>
              <a:ext uri="{FF2B5EF4-FFF2-40B4-BE49-F238E27FC236}">
                <a16:creationId xmlns:a16="http://schemas.microsoft.com/office/drawing/2014/main" id="{C575B3B6-AFC3-93C9-2268-D09396FF2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432" y="4278017"/>
            <a:ext cx="3861776" cy="2548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1" name="AutoShape 16">
            <a:extLst>
              <a:ext uri="{FF2B5EF4-FFF2-40B4-BE49-F238E27FC236}">
                <a16:creationId xmlns:a16="http://schemas.microsoft.com/office/drawing/2014/main" id="{AAA1E3A9-59CF-DDB9-B609-78D7E911F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2208" y="3662671"/>
            <a:ext cx="1655762" cy="1296987"/>
          </a:xfrm>
          <a:prstGeom prst="wedgeEllipseCallout">
            <a:avLst>
              <a:gd name="adj1" fmla="val 18907"/>
              <a:gd name="adj2" fmla="val 74065"/>
            </a:avLst>
          </a:prstGeom>
          <a:solidFill>
            <a:srgbClr val="FFC000"/>
          </a:solidFill>
          <a:ln w="25560" cap="sq">
            <a:solidFill>
              <a:srgbClr val="385D8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2" name="Text Box 17">
            <a:extLst>
              <a:ext uri="{FF2B5EF4-FFF2-40B4-BE49-F238E27FC236}">
                <a16:creationId xmlns:a16="http://schemas.microsoft.com/office/drawing/2014/main" id="{20882596-5FB5-95E7-46C7-04FB1355D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2208" y="3878571"/>
            <a:ext cx="18716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sz="1400" b="1"/>
              <a:t>       Alerte PTI</a:t>
            </a:r>
          </a:p>
          <a:p>
            <a:pPr>
              <a:buClrTx/>
              <a:buFontTx/>
              <a:buNone/>
            </a:pPr>
            <a:r>
              <a:rPr lang="fr-FR" altLang="fr-FR" sz="1400" b="1"/>
              <a:t>Bat Stock chimie</a:t>
            </a:r>
          </a:p>
          <a:p>
            <a:pPr>
              <a:buClrTx/>
              <a:buFontTx/>
              <a:buNone/>
            </a:pPr>
            <a:r>
              <a:rPr lang="fr-FR" altLang="fr-FR" sz="1400" b="1"/>
              <a:t>       1</a:t>
            </a:r>
            <a:r>
              <a:rPr lang="fr-FR" altLang="fr-FR" sz="1400" b="1" baseline="30000"/>
              <a:t>er</a:t>
            </a:r>
            <a:r>
              <a:rPr lang="fr-FR" altLang="fr-FR" sz="1400" b="1"/>
              <a:t> étage</a:t>
            </a:r>
          </a:p>
          <a:p>
            <a:pPr>
              <a:buClrTx/>
              <a:buFontTx/>
              <a:buNone/>
            </a:pPr>
            <a:r>
              <a:rPr lang="fr-FR" altLang="fr-FR" sz="1400" b="1"/>
              <a:t>       escalier B</a:t>
            </a:r>
          </a:p>
        </p:txBody>
      </p:sp>
      <p:pic>
        <p:nvPicPr>
          <p:cNvPr id="23" name="Picture 18">
            <a:extLst>
              <a:ext uri="{FF2B5EF4-FFF2-40B4-BE49-F238E27FC236}">
                <a16:creationId xmlns:a16="http://schemas.microsoft.com/office/drawing/2014/main" id="{BE5BBA94-580F-63B2-68BA-B9B773712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270" y="1503671"/>
            <a:ext cx="1006475" cy="995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4" name="AutoShape 19">
            <a:extLst>
              <a:ext uri="{FF2B5EF4-FFF2-40B4-BE49-F238E27FC236}">
                <a16:creationId xmlns:a16="http://schemas.microsoft.com/office/drawing/2014/main" id="{AD39AC6F-B1D9-3D5A-3717-670DA969F6F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281433" y="2232333"/>
            <a:ext cx="1581150" cy="1150938"/>
          </a:xfrm>
          <a:prstGeom prst="wedgeRoundRectCallout">
            <a:avLst>
              <a:gd name="adj1" fmla="val 30440"/>
              <a:gd name="adj2" fmla="val -71583"/>
              <a:gd name="adj3" fmla="val 16667"/>
            </a:avLst>
          </a:prstGeom>
          <a:solidFill>
            <a:srgbClr val="FF0000"/>
          </a:solidFill>
          <a:ln w="25560" cap="sq">
            <a:solidFill>
              <a:srgbClr val="385D8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buClrTx/>
              <a:buFontTx/>
              <a:buNone/>
            </a:pPr>
            <a:endParaRPr lang="fr-FR" altLang="fr-FR" sz="1400" b="1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pPr algn="ctr">
              <a:buClrTx/>
              <a:buFontTx/>
              <a:buNone/>
            </a:pPr>
            <a:r>
              <a:rPr lang="fr-FR" altLang="fr-FR" sz="1400" b="1">
                <a:solidFill>
                  <a:srgbClr val="FFFFFF"/>
                </a:solidFill>
                <a:latin typeface="Calibri" panose="020F0502020204030204" pitchFamily="34" charset="0"/>
              </a:rPr>
              <a:t>Attention, Zone dangereuse</a:t>
            </a:r>
          </a:p>
          <a:p>
            <a:pPr algn="ctr">
              <a:buClrTx/>
              <a:buFontTx/>
              <a:buNone/>
            </a:pPr>
            <a:r>
              <a:rPr lang="fr-FR" altLang="fr-FR" sz="1400" b="1">
                <a:solidFill>
                  <a:srgbClr val="FFFFFF"/>
                </a:solidFill>
                <a:latin typeface="Calibri" panose="020F0502020204030204" pitchFamily="34" charset="0"/>
              </a:rPr>
              <a:t>Port du masque</a:t>
            </a:r>
          </a:p>
          <a:p>
            <a:pPr algn="ctr">
              <a:buClrTx/>
              <a:buFontTx/>
              <a:buNone/>
            </a:pPr>
            <a:r>
              <a:rPr lang="fr-FR" altLang="fr-FR" sz="1400" b="1">
                <a:solidFill>
                  <a:srgbClr val="FFFFFF"/>
                </a:solidFill>
                <a:latin typeface="Calibri" panose="020F0502020204030204" pitchFamily="34" charset="0"/>
              </a:rPr>
              <a:t>Et  GSM Atex </a:t>
            </a:r>
          </a:p>
          <a:p>
            <a:pPr algn="ctr">
              <a:buClrTx/>
              <a:buFontTx/>
              <a:buNone/>
            </a:pPr>
            <a:r>
              <a:rPr lang="fr-FR" altLang="fr-FR" sz="1400" b="1">
                <a:solidFill>
                  <a:srgbClr val="FFFFFF"/>
                </a:solidFill>
                <a:latin typeface="Calibri" panose="020F0502020204030204" pitchFamily="34" charset="0"/>
              </a:rPr>
              <a:t>Obligatoire</a:t>
            </a:r>
          </a:p>
          <a:p>
            <a:pPr algn="ctr">
              <a:buClrTx/>
              <a:buFontTx/>
              <a:buNone/>
            </a:pPr>
            <a:endParaRPr lang="fr-FR" altLang="fr-FR" sz="14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25" name="Picture 21">
            <a:extLst>
              <a:ext uri="{FF2B5EF4-FFF2-40B4-BE49-F238E27FC236}">
                <a16:creationId xmlns:a16="http://schemas.microsoft.com/office/drawing/2014/main" id="{6209D1F0-6B14-5E0D-3B8C-622423BBE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439" y="5431916"/>
            <a:ext cx="154781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6" name="Picture 22">
            <a:extLst>
              <a:ext uri="{FF2B5EF4-FFF2-40B4-BE49-F238E27FC236}">
                <a16:creationId xmlns:a16="http://schemas.microsoft.com/office/drawing/2014/main" id="{D767CDAA-FD67-69CC-E0B6-D7178F6D4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1621" y="3730638"/>
            <a:ext cx="167640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cxnSp>
        <p:nvCxnSpPr>
          <p:cNvPr id="27" name="AutoShape 25">
            <a:extLst>
              <a:ext uri="{FF2B5EF4-FFF2-40B4-BE49-F238E27FC236}">
                <a16:creationId xmlns:a16="http://schemas.microsoft.com/office/drawing/2014/main" id="{5180F7C2-1EE5-0F63-5880-933B1653D8B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041345" y="1646546"/>
            <a:ext cx="431800" cy="2016125"/>
          </a:xfrm>
          <a:prstGeom prst="straightConnector1">
            <a:avLst/>
          </a:prstGeom>
          <a:noFill/>
          <a:ln w="50760" cap="sq">
            <a:solidFill>
              <a:srgbClr val="E46C0A"/>
            </a:solidFill>
            <a:prstDash val="dashDot"/>
            <a:miter lim="800000"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pic>
        <p:nvPicPr>
          <p:cNvPr id="28" name="Picture 26">
            <a:extLst>
              <a:ext uri="{FF2B5EF4-FFF2-40B4-BE49-F238E27FC236}">
                <a16:creationId xmlns:a16="http://schemas.microsoft.com/office/drawing/2014/main" id="{62041292-8ECB-C4AE-2E88-77E19011F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1963" y="1736610"/>
            <a:ext cx="4318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9" name="Text Box 27">
            <a:extLst>
              <a:ext uri="{FF2B5EF4-FFF2-40B4-BE49-F238E27FC236}">
                <a16:creationId xmlns:a16="http://schemas.microsoft.com/office/drawing/2014/main" id="{529ACDE0-88B1-B96C-0F94-70CE5E9ABAA0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751217" y="2654608"/>
            <a:ext cx="298191" cy="368300"/>
          </a:xfrm>
          <a:prstGeom prst="rect">
            <a:avLst/>
          </a:prstGeom>
          <a:solidFill>
            <a:srgbClr val="37609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>
                <a:solidFill>
                  <a:srgbClr val="F2F2F2"/>
                </a:solidFill>
              </a:rPr>
              <a:t>B</a:t>
            </a:r>
          </a:p>
        </p:txBody>
      </p:sp>
      <p:pic>
        <p:nvPicPr>
          <p:cNvPr id="30" name="Picture 28">
            <a:extLst>
              <a:ext uri="{FF2B5EF4-FFF2-40B4-BE49-F238E27FC236}">
                <a16:creationId xmlns:a16="http://schemas.microsoft.com/office/drawing/2014/main" id="{CB513475-3479-C28D-0DE5-1883B95FC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620000">
            <a:off x="3623958" y="1233796"/>
            <a:ext cx="644525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1" name="Picture 29">
            <a:extLst>
              <a:ext uri="{FF2B5EF4-FFF2-40B4-BE49-F238E27FC236}">
                <a16:creationId xmlns:a16="http://schemas.microsoft.com/office/drawing/2014/main" id="{D459733D-4801-D14A-C7A5-8690B3198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180000">
            <a:off x="6006795" y="1960871"/>
            <a:ext cx="644525" cy="169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A22BDA13-6492-4FC5-C465-AB11D0640079}"/>
              </a:ext>
            </a:extLst>
          </p:cNvPr>
          <p:cNvGrpSpPr>
            <a:grpSpLocks/>
          </p:cNvGrpSpPr>
          <p:nvPr/>
        </p:nvGrpSpPr>
        <p:grpSpPr bwMode="auto">
          <a:xfrm>
            <a:off x="2854945" y="1182962"/>
            <a:ext cx="496715" cy="769548"/>
            <a:chOff x="3107" y="1344"/>
            <a:chExt cx="494" cy="951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158DC225-0301-7598-9307-A7A70F030E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7" y="1344"/>
              <a:ext cx="494" cy="9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F7926653-459C-9643-15D7-983A701380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8" y="1497"/>
              <a:ext cx="407" cy="6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36" name="Oval 5">
            <a:extLst>
              <a:ext uri="{FF2B5EF4-FFF2-40B4-BE49-F238E27FC236}">
                <a16:creationId xmlns:a16="http://schemas.microsoft.com/office/drawing/2014/main" id="{973A1076-609F-7981-195A-37D058BD920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085920" y="1144986"/>
            <a:ext cx="215900" cy="215900"/>
          </a:xfrm>
          <a:prstGeom prst="ellipse">
            <a:avLst/>
          </a:prstGeom>
          <a:solidFill>
            <a:srgbClr val="00B0F0"/>
          </a:solidFill>
          <a:ln w="25560" cap="sq">
            <a:solidFill>
              <a:srgbClr val="385D8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DE5D28AA-5341-5222-EAAC-48E7BEF66ED3}"/>
              </a:ext>
            </a:extLst>
          </p:cNvPr>
          <p:cNvSpPr txBox="1"/>
          <p:nvPr/>
        </p:nvSpPr>
        <p:spPr>
          <a:xfrm>
            <a:off x="7560972" y="1225021"/>
            <a:ext cx="42770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Tx/>
              <a:buFontTx/>
              <a:buNone/>
            </a:pPr>
            <a:r>
              <a:rPr lang="fr-FR" altLang="fr-FR" b="1" dirty="0">
                <a:solidFill>
                  <a:srgbClr val="FF0000"/>
                </a:solidFill>
              </a:rPr>
              <a:t>Solution de Protection de travailleurs isolés sous Android couplée à une plateforme de géolocalisation Indoor/</a:t>
            </a:r>
            <a:r>
              <a:rPr lang="fr-FR" altLang="fr-FR" b="1" dirty="0" err="1">
                <a:solidFill>
                  <a:srgbClr val="FF0000"/>
                </a:solidFill>
              </a:rPr>
              <a:t>Outdoor</a:t>
            </a:r>
            <a:r>
              <a:rPr lang="fr-FR" altLang="fr-FR" b="1" dirty="0">
                <a:solidFill>
                  <a:srgbClr val="FF0000"/>
                </a:solidFill>
              </a:rPr>
              <a:t> et de suivi de consignes de sécurité</a:t>
            </a:r>
          </a:p>
        </p:txBody>
      </p:sp>
      <p:pic>
        <p:nvPicPr>
          <p:cNvPr id="40" name="Picture 7">
            <a:extLst>
              <a:ext uri="{FF2B5EF4-FFF2-40B4-BE49-F238E27FC236}">
                <a16:creationId xmlns:a16="http://schemas.microsoft.com/office/drawing/2014/main" id="{9A1BFB07-9982-26FF-CBC6-B40B61B44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1362" y="2979535"/>
            <a:ext cx="3438525" cy="187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41" name="Group 31">
            <a:extLst>
              <a:ext uri="{FF2B5EF4-FFF2-40B4-BE49-F238E27FC236}">
                <a16:creationId xmlns:a16="http://schemas.microsoft.com/office/drawing/2014/main" id="{BDEB85A9-C3A4-E272-3984-E1E08587A476}"/>
              </a:ext>
            </a:extLst>
          </p:cNvPr>
          <p:cNvGrpSpPr>
            <a:grpSpLocks/>
          </p:cNvGrpSpPr>
          <p:nvPr/>
        </p:nvGrpSpPr>
        <p:grpSpPr bwMode="auto">
          <a:xfrm>
            <a:off x="5650135" y="3383271"/>
            <a:ext cx="784225" cy="1509713"/>
            <a:chOff x="3107" y="1344"/>
            <a:chExt cx="494" cy="951"/>
          </a:xfrm>
        </p:grpSpPr>
        <p:pic>
          <p:nvPicPr>
            <p:cNvPr id="42" name="Picture 32">
              <a:extLst>
                <a:ext uri="{FF2B5EF4-FFF2-40B4-BE49-F238E27FC236}">
                  <a16:creationId xmlns:a16="http://schemas.microsoft.com/office/drawing/2014/main" id="{25FEADC7-6EAB-2F33-DD2F-E6C37F5F24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7" y="1344"/>
              <a:ext cx="494" cy="9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43" name="Picture 33">
              <a:extLst>
                <a:ext uri="{FF2B5EF4-FFF2-40B4-BE49-F238E27FC236}">
                  <a16:creationId xmlns:a16="http://schemas.microsoft.com/office/drawing/2014/main" id="{B4E05BE7-B62A-FBCF-E6AD-E0A8036B04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8" y="1497"/>
              <a:ext cx="407" cy="6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pic>
        <p:nvPicPr>
          <p:cNvPr id="44" name="Picture 2">
            <a:extLst>
              <a:ext uri="{FF2B5EF4-FFF2-40B4-BE49-F238E27FC236}">
                <a16:creationId xmlns:a16="http://schemas.microsoft.com/office/drawing/2014/main" id="{10164AA7-06BA-8EE2-6AA1-985E8BBA7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1000" y="4903621"/>
            <a:ext cx="3459712" cy="1945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113851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52</Words>
  <Application>Microsoft Office PowerPoint</Application>
  <PresentationFormat>Grand écran</PresentationFormat>
  <Paragraphs>12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DRS</dc:creator>
  <cp:lastModifiedBy>DRS</cp:lastModifiedBy>
  <cp:revision>4</cp:revision>
  <dcterms:created xsi:type="dcterms:W3CDTF">2026-01-12T15:09:06Z</dcterms:created>
  <dcterms:modified xsi:type="dcterms:W3CDTF">2026-01-12T15:25:44Z</dcterms:modified>
</cp:coreProperties>
</file>