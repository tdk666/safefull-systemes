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404511-815B-459F-1475-CCD224881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8FB3E79-0551-5C04-9D2B-1FD2858F5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C70AA1-343D-AB17-14ED-66891F2E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C0EDA-774D-48AD-BBD8-AA72312D322F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D030E1-1870-916A-8398-EFCBCC65B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6235AD-2F93-6CE8-BAB4-7FB637FE5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4712-2E1C-47CD-93EC-4762E217B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0114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1C1D5F-EB85-DF71-7C40-2A646BE2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0F027F-2C2E-2D74-4E91-C03DAC3DC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883E42-90E2-F1BB-9A21-03546B621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C0EDA-774D-48AD-BBD8-AA72312D322F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E59991-E462-1AAC-78A8-A41E08E62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4E3227-3AEC-D702-7295-8030398D7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4712-2E1C-47CD-93EC-4762E217B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811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629A2F-138D-4380-CAE2-158E63705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A51C36-F1DC-6F69-6260-CCBD91750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9B8188-094C-DC36-028C-912906BC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C0EDA-774D-48AD-BBD8-AA72312D322F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1FF53D-A03A-F6AD-7882-1BD3CD4D4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F830FD-D5B2-F965-1662-8AFFF4E28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4712-2E1C-47CD-93EC-4762E217B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069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D64F1F-5D6E-64F0-A99B-6916EE6C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62B04D-E3A3-3F0E-FF8C-C1A0BA434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11C121-493A-2EC1-290C-3EA8813A1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CDFF69-7F4C-BBDA-F1D5-323F82248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C0EDA-774D-48AD-BBD8-AA72312D322F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70FAB1-6E89-7E61-8B5D-90DBB5DEE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BD074D-3235-520F-3142-C82BDE7C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4712-2E1C-47CD-93EC-4762E217B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1666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067FFC-D517-BCD8-53C5-7F606B6D8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3BE777-FB02-65D0-C1EE-F1CC08DAD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57F75E-089C-3A87-803D-B224F16A6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9122A28-0FDA-8150-D1E9-A43931C83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34A349F-D30B-89BB-B06F-33E151D22A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7B01E34-CC64-4291-7E55-4A43B75B8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C0EDA-774D-48AD-BBD8-AA72312D322F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3210481-1FC9-7A7C-97B9-D048AF3B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172F28E-D7FD-9A22-84DB-8A16717A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4712-2E1C-47CD-93EC-4762E217B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1654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EB5FBE-775B-CAAC-3C18-E3C74EE22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845510C-CFA1-E47E-5655-6563DC16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C0EDA-774D-48AD-BBD8-AA72312D322F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AAFA1C5-1F80-7EE5-DCE1-3BEBE430A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B5AE40-0820-4D47-0307-224913CE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4712-2E1C-47CD-93EC-4762E217B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5768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8B35F00-94CD-ABC1-734E-A6E79CD96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C0EDA-774D-48AD-BBD8-AA72312D322F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ADBC8E-15BC-EC84-EB13-8752C24B3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D59F89-0D71-DAD3-3CC9-510B8A55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4712-2E1C-47CD-93EC-4762E217B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3279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76F445-F98D-2137-9A3B-36A416FD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E54EB1-FB71-C0CB-47F6-1FA58680B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157814-36F2-5198-23F7-8ECE751C2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049739-37A4-A27B-7391-0215AC6D6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C0EDA-774D-48AD-BBD8-AA72312D322F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A480A4-E038-35ED-1A2A-3174B89FD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A9500B-D89F-E829-3CFE-C9E318835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4712-2E1C-47CD-93EC-4762E217B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30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9DC173-BBD7-4A55-09B6-B1C9D5782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1B0B52F-FC99-00D9-9A97-C886C36898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134414D-48CC-D818-3D43-EE2905FF7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B0569DD-676E-25E2-EB90-3CAF1D10A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C0EDA-774D-48AD-BBD8-AA72312D322F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66C94C6-BDCA-A9F6-75CB-9A73B98F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955323-D580-8BE4-94DC-F8EB319FA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4712-2E1C-47CD-93EC-4762E217B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970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98B4FA-5083-DC85-ADB7-CE326CD06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A77917B-726C-AB32-9C11-8C0FFFFEB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DFB84C-DCFC-2080-277D-EC4974FA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C0EDA-774D-48AD-BBD8-AA72312D322F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DD90F2-3F17-15E9-A864-AB0906B34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7EC3B0-8312-5239-B4C6-3486E86B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4712-2E1C-47CD-93EC-4762E217B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593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A7894DB-9977-A951-6F06-ACF9A279D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1CF2B4B-F875-75A5-33F7-8E4D04133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F545A5-5B09-3CC1-5827-7AB52887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C0EDA-774D-48AD-BBD8-AA72312D322F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B45290-AFCF-B8DD-C641-DBC089FB3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A48874-D8BC-6B57-D37C-748B4293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64712-2E1C-47CD-93EC-4762E217B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2994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58B7C3A-EFFA-7923-A022-57D28939D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1A675A-0EC5-E04A-7587-C49683230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4BA8C0-9DD0-5068-03C5-6CC2129F0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C0EDA-774D-48AD-BBD8-AA72312D322F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EB1DE4-519C-B54B-CA2A-9B52422B22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7FF64D-79CA-E090-7058-C33DB443B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64712-2E1C-47CD-93EC-4762E217B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2153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34">
            <a:extLst>
              <a:ext uri="{FF2B5EF4-FFF2-40B4-BE49-F238E27FC236}">
                <a16:creationId xmlns:a16="http://schemas.microsoft.com/office/drawing/2014/main" id="{8D209EDE-4DD3-3E79-DA3B-972EDDDF4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452445">
            <a:off x="10731192" y="1217815"/>
            <a:ext cx="599417" cy="1146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0" name="AutoShape 19">
            <a:extLst>
              <a:ext uri="{FF2B5EF4-FFF2-40B4-BE49-F238E27FC236}">
                <a16:creationId xmlns:a16="http://schemas.microsoft.com/office/drawing/2014/main" id="{1D4E2C9B-2788-21FB-FB76-776358EE34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66097" y="1828888"/>
            <a:ext cx="3024336" cy="187683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>
            <a:outerShdw blurRad="50800" dist="50800" dir="5400000" algn="ctr" rotWithShape="0">
              <a:srgbClr val="FF0000"/>
            </a:outerShdw>
          </a:effectLst>
        </p:spPr>
      </p:cxnSp>
      <p:pic>
        <p:nvPicPr>
          <p:cNvPr id="89" name="Picture 3">
            <a:extLst>
              <a:ext uri="{FF2B5EF4-FFF2-40B4-BE49-F238E27FC236}">
                <a16:creationId xmlns:a16="http://schemas.microsoft.com/office/drawing/2014/main" id="{8EDB82F2-2E2B-3D38-CE98-707787B88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13861" y="9013"/>
            <a:ext cx="1222654" cy="81510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pic>
        <p:nvPicPr>
          <p:cNvPr id="46" name="Picture 4" descr="j0314344">
            <a:extLst>
              <a:ext uri="{FF2B5EF4-FFF2-40B4-BE49-F238E27FC236}">
                <a16:creationId xmlns:a16="http://schemas.microsoft.com/office/drawing/2014/main" id="{C75119AE-190C-D1A2-C9FB-B1D60C498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54766" y="2433899"/>
            <a:ext cx="1018615" cy="187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8" name="AutoShape 19">
            <a:extLst>
              <a:ext uri="{FF2B5EF4-FFF2-40B4-BE49-F238E27FC236}">
                <a16:creationId xmlns:a16="http://schemas.microsoft.com/office/drawing/2014/main" id="{86108C67-EE95-35E4-0B48-7E387F37C66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56248" y="4058856"/>
            <a:ext cx="3024336" cy="208823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>
            <a:outerShdw blurRad="50800" dist="50800" dir="5400000" algn="ctr" rotWithShape="0">
              <a:srgbClr val="FF0000"/>
            </a:outerShdw>
          </a:effectLst>
        </p:spPr>
      </p:cxnSp>
      <p:pic>
        <p:nvPicPr>
          <p:cNvPr id="50" name="Picture 31" descr="F:\DIALYSE\pompe relevage.jpg">
            <a:extLst>
              <a:ext uri="{FF2B5EF4-FFF2-40B4-BE49-F238E27FC236}">
                <a16:creationId xmlns:a16="http://schemas.microsoft.com/office/drawing/2014/main" id="{D4D21E8E-9A70-8B2C-2AE2-57E5323B7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7058" y="4576385"/>
            <a:ext cx="1465897" cy="939260"/>
          </a:xfrm>
          <a:prstGeom prst="rect">
            <a:avLst/>
          </a:prstGeom>
          <a:noFill/>
        </p:spPr>
      </p:pic>
      <p:pic>
        <p:nvPicPr>
          <p:cNvPr id="51" name="Picture 30" descr="F:\DIALYSE\Centrale Incendie.jpg">
            <a:extLst>
              <a:ext uri="{FF2B5EF4-FFF2-40B4-BE49-F238E27FC236}">
                <a16:creationId xmlns:a16="http://schemas.microsoft.com/office/drawing/2014/main" id="{7E71DB1B-1B27-36B0-0A6B-42800DCA8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35128" y="3326217"/>
            <a:ext cx="1285875" cy="1285875"/>
          </a:xfrm>
          <a:prstGeom prst="rect">
            <a:avLst/>
          </a:prstGeom>
          <a:noFill/>
        </p:spPr>
      </p:pic>
      <p:sp>
        <p:nvSpPr>
          <p:cNvPr id="52" name="Text Box 2">
            <a:extLst>
              <a:ext uri="{FF2B5EF4-FFF2-40B4-BE49-F238E27FC236}">
                <a16:creationId xmlns:a16="http://schemas.microsoft.com/office/drawing/2014/main" id="{64725B4D-55CA-EED7-EE65-41FC6DE16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-405640"/>
            <a:ext cx="8229600" cy="1143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4000" b="1" dirty="0" err="1">
                <a:solidFill>
                  <a:srgbClr val="000000"/>
                </a:solidFill>
                <a:latin typeface="Calibri" pitchFamily="32" charset="0"/>
              </a:rPr>
              <a:t>NephroCall</a:t>
            </a:r>
            <a:r>
              <a:rPr lang="fr-FR" sz="4000" dirty="0">
                <a:solidFill>
                  <a:srgbClr val="000000"/>
                </a:solidFill>
                <a:latin typeface="Calibri" pitchFamily="32" charset="0"/>
              </a:rPr>
              <a:t> </a:t>
            </a:r>
            <a:r>
              <a:rPr lang="fr-FR" sz="2400" i="1" dirty="0">
                <a:solidFill>
                  <a:srgbClr val="0070C0"/>
                </a:solidFill>
                <a:latin typeface="Calibri" pitchFamily="32" charset="0"/>
              </a:rPr>
              <a:t>by</a:t>
            </a:r>
            <a:endParaRPr lang="fr-FR" sz="3600" dirty="0">
              <a:solidFill>
                <a:srgbClr val="0070C0"/>
              </a:solidFill>
              <a:latin typeface="Calibri" pitchFamily="32" charset="0"/>
            </a:endParaRPr>
          </a:p>
        </p:txBody>
      </p:sp>
      <p:sp>
        <p:nvSpPr>
          <p:cNvPr id="53" name="Oval 10">
            <a:extLst>
              <a:ext uri="{FF2B5EF4-FFF2-40B4-BE49-F238E27FC236}">
                <a16:creationId xmlns:a16="http://schemas.microsoft.com/office/drawing/2014/main" id="{DFB8C05A-EF02-8FD8-A698-F851F45F9EB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540224" y="2618696"/>
            <a:ext cx="215900" cy="215900"/>
          </a:xfrm>
          <a:prstGeom prst="ellipse">
            <a:avLst/>
          </a:prstGeom>
          <a:solidFill>
            <a:srgbClr val="00B0F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" name="Oval 11">
            <a:extLst>
              <a:ext uri="{FF2B5EF4-FFF2-40B4-BE49-F238E27FC236}">
                <a16:creationId xmlns:a16="http://schemas.microsoft.com/office/drawing/2014/main" id="{60E22BA4-BBF6-C001-6672-521DA72F047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540224" y="5211108"/>
            <a:ext cx="215900" cy="215900"/>
          </a:xfrm>
          <a:prstGeom prst="ellipse">
            <a:avLst/>
          </a:prstGeom>
          <a:solidFill>
            <a:srgbClr val="00B0F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55" name="Picture 29" descr="F:\DIALYSE\Groupe electrogène.jpg">
            <a:extLst>
              <a:ext uri="{FF2B5EF4-FFF2-40B4-BE49-F238E27FC236}">
                <a16:creationId xmlns:a16="http://schemas.microsoft.com/office/drawing/2014/main" id="{4D35447A-C423-C3A7-CC20-BDEA61A4E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67880" y="2827679"/>
            <a:ext cx="1428750" cy="951548"/>
          </a:xfrm>
          <a:prstGeom prst="rect">
            <a:avLst/>
          </a:prstGeom>
          <a:noFill/>
        </p:spPr>
      </p:pic>
      <p:sp>
        <p:nvSpPr>
          <p:cNvPr id="56" name="Oval 10">
            <a:extLst>
              <a:ext uri="{FF2B5EF4-FFF2-40B4-BE49-F238E27FC236}">
                <a16:creationId xmlns:a16="http://schemas.microsoft.com/office/drawing/2014/main" id="{96746E4D-56E0-21A8-5DFA-DB01B0E2A09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540224" y="3554924"/>
            <a:ext cx="215900" cy="215900"/>
          </a:xfrm>
          <a:prstGeom prst="ellipse">
            <a:avLst/>
          </a:prstGeom>
          <a:solidFill>
            <a:srgbClr val="00B0F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7" name="Oval 10">
            <a:extLst>
              <a:ext uri="{FF2B5EF4-FFF2-40B4-BE49-F238E27FC236}">
                <a16:creationId xmlns:a16="http://schemas.microsoft.com/office/drawing/2014/main" id="{DE48565A-E1A5-560C-1D95-11E6D036F3F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540224" y="4419020"/>
            <a:ext cx="215900" cy="215900"/>
          </a:xfrm>
          <a:prstGeom prst="ellipse">
            <a:avLst/>
          </a:prstGeom>
          <a:solidFill>
            <a:srgbClr val="00B0F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58" name="Picture 33" descr="F:\DIALYSE\Centrale Intrusion.jpg">
            <a:extLst>
              <a:ext uri="{FF2B5EF4-FFF2-40B4-BE49-F238E27FC236}">
                <a16:creationId xmlns:a16="http://schemas.microsoft.com/office/drawing/2014/main" id="{9AD5FEB4-6F37-2A92-A9AA-482F4B34A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35128" y="5304914"/>
            <a:ext cx="1082707" cy="1080135"/>
          </a:xfrm>
          <a:prstGeom prst="rect">
            <a:avLst/>
          </a:prstGeom>
          <a:noFill/>
        </p:spPr>
      </p:pic>
      <p:sp>
        <p:nvSpPr>
          <p:cNvPr id="59" name="AutoShape 15">
            <a:extLst>
              <a:ext uri="{FF2B5EF4-FFF2-40B4-BE49-F238E27FC236}">
                <a16:creationId xmlns:a16="http://schemas.microsoft.com/office/drawing/2014/main" id="{4709F5E8-4995-F02A-6A8C-BB6F1BE58E4B}"/>
              </a:ext>
            </a:extLst>
          </p:cNvPr>
          <p:cNvSpPr>
            <a:spLocks noChangeArrowheads="1"/>
          </p:cNvSpPr>
          <p:nvPr/>
        </p:nvSpPr>
        <p:spPr bwMode="auto">
          <a:xfrm rot="13404762">
            <a:off x="10360815" y="2305127"/>
            <a:ext cx="485775" cy="468313"/>
          </a:xfrm>
          <a:prstGeom prst="downArrow">
            <a:avLst>
              <a:gd name="adj1" fmla="val 44622"/>
              <a:gd name="adj2" fmla="val 30578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rthographicFront"/>
            <a:lightRig rig="threePt" dir="t">
              <a:rot lat="0" lon="0" rev="0"/>
            </a:lightRig>
          </a:scene3d>
        </p:spPr>
        <p:txBody>
          <a:bodyPr wrap="none" anchor="ctr"/>
          <a:lstStyle/>
          <a:p>
            <a:endParaRPr lang="fr-FR"/>
          </a:p>
        </p:txBody>
      </p:sp>
      <p:pic>
        <p:nvPicPr>
          <p:cNvPr id="60" name="Picture 32" descr="F:\DIALYSE\Sonde Thermo.jpg">
            <a:extLst>
              <a:ext uri="{FF2B5EF4-FFF2-40B4-BE49-F238E27FC236}">
                <a16:creationId xmlns:a16="http://schemas.microsoft.com/office/drawing/2014/main" id="{30E56439-4524-676F-2992-188B425AB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206504" y="5983724"/>
            <a:ext cx="912114" cy="761905"/>
          </a:xfrm>
          <a:prstGeom prst="rect">
            <a:avLst/>
          </a:prstGeom>
          <a:noFill/>
        </p:spPr>
      </p:pic>
      <p:pic>
        <p:nvPicPr>
          <p:cNvPr id="61" name="Picture 26" descr="F:\DIALYSE\LitDialyse2.jpg">
            <a:extLst>
              <a:ext uri="{FF2B5EF4-FFF2-40B4-BE49-F238E27FC236}">
                <a16:creationId xmlns:a16="http://schemas.microsoft.com/office/drawing/2014/main" id="{0EB080EC-A6C5-9C3B-6358-9A65A60D6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756248" y="2690704"/>
            <a:ext cx="2826059" cy="2028061"/>
          </a:xfrm>
          <a:prstGeom prst="rect">
            <a:avLst/>
          </a:prstGeom>
          <a:noFill/>
        </p:spPr>
      </p:pic>
      <p:sp>
        <p:nvSpPr>
          <p:cNvPr id="62" name="Oval 12">
            <a:extLst>
              <a:ext uri="{FF2B5EF4-FFF2-40B4-BE49-F238E27FC236}">
                <a16:creationId xmlns:a16="http://schemas.microsoft.com/office/drawing/2014/main" id="{8222F5D8-62AC-893F-F744-959D37FC1B1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540224" y="6003196"/>
            <a:ext cx="215900" cy="215900"/>
          </a:xfrm>
          <a:prstGeom prst="ellipse">
            <a:avLst/>
          </a:prstGeom>
          <a:solidFill>
            <a:srgbClr val="FF000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63" name="AutoShape 14">
            <a:extLst>
              <a:ext uri="{FF2B5EF4-FFF2-40B4-BE49-F238E27FC236}">
                <a16:creationId xmlns:a16="http://schemas.microsoft.com/office/drawing/2014/main" id="{A5CC3EE0-4028-556D-7CD5-321F71EC2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343" y="5278889"/>
            <a:ext cx="3312368" cy="1368152"/>
          </a:xfrm>
          <a:prstGeom prst="roundRect">
            <a:avLst>
              <a:gd name="adj" fmla="val 16667"/>
            </a:avLst>
          </a:prstGeom>
          <a:solidFill>
            <a:srgbClr val="00339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fr-FR" sz="1400" b="1" u="sng" dirty="0">
                <a:solidFill>
                  <a:schemeClr val="bg1"/>
                </a:solidFill>
              </a:rPr>
              <a:t>Résultats</a:t>
            </a:r>
            <a:endParaRPr lang="fr-FR" sz="1400" u="sng" dirty="0">
              <a:solidFill>
                <a:schemeClr val="bg1"/>
              </a:solidFill>
              <a:sym typeface="Wingdings" pitchFamily="2" charset="2"/>
            </a:endParaRPr>
          </a:p>
          <a:p>
            <a:r>
              <a:rPr lang="fr-FR" sz="1400" b="1" dirty="0">
                <a:sym typeface="Wingdings" pitchFamily="2" charset="2"/>
              </a:rPr>
              <a:t> Offrir de la réactivité et </a:t>
            </a:r>
          </a:p>
          <a:p>
            <a:r>
              <a:rPr lang="fr-FR" sz="1400" b="1" dirty="0">
                <a:sym typeface="Wingdings" pitchFamily="2" charset="2"/>
              </a:rPr>
              <a:t>de l'agilité à </a:t>
            </a:r>
            <a:r>
              <a:rPr lang="fr-FR" sz="1400" b="1" dirty="0">
                <a:solidFill>
                  <a:schemeClr val="bg1"/>
                </a:solidFill>
                <a:sym typeface="Wingdings" pitchFamily="2" charset="2"/>
              </a:rPr>
              <a:t>l’équipe Bio Médicale</a:t>
            </a:r>
          </a:p>
          <a:p>
            <a:r>
              <a:rPr lang="fr-FR" sz="1400" b="1" dirty="0">
                <a:sym typeface="Wingdings" pitchFamily="2" charset="2"/>
              </a:rPr>
              <a:t> Evoluer dans le temps selon </a:t>
            </a:r>
          </a:p>
          <a:p>
            <a:r>
              <a:rPr lang="fr-FR" sz="1400" b="1" dirty="0">
                <a:sym typeface="Wingdings" pitchFamily="2" charset="2"/>
              </a:rPr>
              <a:t>les nouveaux équipements </a:t>
            </a:r>
          </a:p>
          <a:p>
            <a:r>
              <a:rPr lang="fr-FR" sz="1400" b="1" dirty="0">
                <a:sym typeface="Wingdings" pitchFamily="2" charset="2"/>
              </a:rPr>
              <a:t>ou organisation mis en place</a:t>
            </a:r>
            <a:endParaRPr lang="fr-FR" sz="1400" b="1" dirty="0">
              <a:solidFill>
                <a:schemeClr val="bg1"/>
              </a:solidFill>
              <a:sym typeface="Wingdings" pitchFamily="2" charset="2"/>
            </a:endParaRPr>
          </a:p>
        </p:txBody>
      </p:sp>
      <p:sp>
        <p:nvSpPr>
          <p:cNvPr id="64" name="AutoShape 8">
            <a:extLst>
              <a:ext uri="{FF2B5EF4-FFF2-40B4-BE49-F238E27FC236}">
                <a16:creationId xmlns:a16="http://schemas.microsoft.com/office/drawing/2014/main" id="{3F4DE777-6EEC-A877-6C3E-5166711EB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6" y="590935"/>
            <a:ext cx="4231333" cy="1148917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9525">
            <a:noFill/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fr-FR" sz="1400" b="1" u="sng" dirty="0">
                <a:solidFill>
                  <a:schemeClr val="bg1"/>
                </a:solidFill>
              </a:rPr>
              <a:t>Objectifs</a:t>
            </a:r>
          </a:p>
          <a:p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b="1" dirty="0">
                <a:sym typeface="Wingdings" pitchFamily="2" charset="2"/>
              </a:rPr>
              <a:t>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/>
              <a:t>Informer en temps réel 24/24 et en mobilité  </a:t>
            </a:r>
          </a:p>
          <a:p>
            <a:r>
              <a:rPr lang="fr-FR" sz="1400" dirty="0"/>
              <a:t>      d'une anomalie technique survenant </a:t>
            </a:r>
          </a:p>
          <a:p>
            <a:r>
              <a:rPr lang="fr-FR" sz="1400" dirty="0"/>
              <a:t>      dans un centre de dialyse ou dans </a:t>
            </a:r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plusieurs</a:t>
            </a:r>
          </a:p>
          <a:p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centres </a:t>
            </a:r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sym typeface="Wingdings" pitchFamily="2" charset="2"/>
              </a:rPr>
              <a:t> interconnectés</a:t>
            </a:r>
            <a:endParaRPr lang="fr-F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5" name="Picture 2" descr="F:\DIALYSE\MailNephrocall.jpg">
            <a:extLst>
              <a:ext uri="{FF2B5EF4-FFF2-40B4-BE49-F238E27FC236}">
                <a16:creationId xmlns:a16="http://schemas.microsoft.com/office/drawing/2014/main" id="{D873D9DB-22DC-05C1-60F3-D4CD18255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0535959" y="4350516"/>
            <a:ext cx="1392174" cy="754380"/>
          </a:xfrm>
          <a:prstGeom prst="rect">
            <a:avLst/>
          </a:prstGeom>
          <a:noFill/>
        </p:spPr>
      </p:pic>
      <p:pic>
        <p:nvPicPr>
          <p:cNvPr id="66" name="Picture 28">
            <a:extLst>
              <a:ext uri="{FF2B5EF4-FFF2-40B4-BE49-F238E27FC236}">
                <a16:creationId xmlns:a16="http://schemas.microsoft.com/office/drawing/2014/main" id="{E900E57C-50D3-535B-60C0-3B0FE2C82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183303" y="1790536"/>
            <a:ext cx="1236190" cy="1037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8" name="Text Box 5">
            <a:extLst>
              <a:ext uri="{FF2B5EF4-FFF2-40B4-BE49-F238E27FC236}">
                <a16:creationId xmlns:a16="http://schemas.microsoft.com/office/drawing/2014/main" id="{D3EDC51E-8995-0F58-F6BA-156C8BD84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0679" y="321832"/>
            <a:ext cx="4637978" cy="86395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Package de Supervision d'équipements hétérogènes </a:t>
            </a: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Centre de Dialyse</a:t>
            </a: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b="1" dirty="0">
                <a:solidFill>
                  <a:srgbClr val="000000"/>
                </a:solidFill>
              </a:rPr>
              <a:t>    </a:t>
            </a:r>
          </a:p>
        </p:txBody>
      </p:sp>
      <p:sp>
        <p:nvSpPr>
          <p:cNvPr id="91" name="Oval 12">
            <a:extLst>
              <a:ext uri="{FF2B5EF4-FFF2-40B4-BE49-F238E27FC236}">
                <a16:creationId xmlns:a16="http://schemas.microsoft.com/office/drawing/2014/main" id="{7EF38891-F459-1E93-359B-E8044E52FB5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502800" y="1773277"/>
            <a:ext cx="215900" cy="215900"/>
          </a:xfrm>
          <a:prstGeom prst="ellipse">
            <a:avLst/>
          </a:prstGeom>
          <a:solidFill>
            <a:srgbClr val="FF000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97" name="AutoShape 15">
            <a:extLst>
              <a:ext uri="{FF2B5EF4-FFF2-40B4-BE49-F238E27FC236}">
                <a16:creationId xmlns:a16="http://schemas.microsoft.com/office/drawing/2014/main" id="{EF231E90-9F16-580E-7654-F580F8C78581}"/>
              </a:ext>
            </a:extLst>
          </p:cNvPr>
          <p:cNvSpPr>
            <a:spLocks noChangeArrowheads="1"/>
          </p:cNvSpPr>
          <p:nvPr/>
        </p:nvSpPr>
        <p:spPr bwMode="auto">
          <a:xfrm rot="18367753">
            <a:off x="10390911" y="3897757"/>
            <a:ext cx="485775" cy="468313"/>
          </a:xfrm>
          <a:prstGeom prst="downArrow">
            <a:avLst>
              <a:gd name="adj1" fmla="val 44622"/>
              <a:gd name="adj2" fmla="val 30578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rthographicFront"/>
            <a:lightRig rig="threePt" dir="t">
              <a:rot lat="0" lon="0" rev="0"/>
            </a:lightRig>
          </a:scene3d>
        </p:spPr>
        <p:txBody>
          <a:bodyPr wrap="none" anchor="ctr"/>
          <a:lstStyle/>
          <a:p>
            <a:endParaRPr lang="fr-FR"/>
          </a:p>
        </p:txBody>
      </p:sp>
      <p:sp>
        <p:nvSpPr>
          <p:cNvPr id="98" name="AutoShape 12">
            <a:extLst>
              <a:ext uri="{FF2B5EF4-FFF2-40B4-BE49-F238E27FC236}">
                <a16:creationId xmlns:a16="http://schemas.microsoft.com/office/drawing/2014/main" id="{4066E8CF-BC8F-D36A-A992-CD6C782F5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075" y="2277315"/>
            <a:ext cx="3744416" cy="2796564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50000"/>
            </a:schemeClr>
          </a:solidFill>
          <a:ln w="9525">
            <a:noFill/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fr-FR" sz="1400" b="1" dirty="0">
              <a:solidFill>
                <a:schemeClr val="accent3">
                  <a:lumMod val="95000"/>
                </a:schemeClr>
              </a:solidFill>
            </a:endParaRPr>
          </a:p>
          <a:p>
            <a:r>
              <a:rPr lang="fr-FR" sz="1400" b="1" u="sng" dirty="0">
                <a:solidFill>
                  <a:schemeClr val="bg1"/>
                </a:solidFill>
              </a:rPr>
              <a:t>Moyens</a:t>
            </a:r>
          </a:p>
          <a:p>
            <a:r>
              <a:rPr lang="es-ES_tradnl" sz="1400" dirty="0">
                <a:solidFill>
                  <a:schemeClr val="accent3">
                    <a:lumMod val="95000"/>
                  </a:schemeClr>
                </a:solidFill>
              </a:rPr>
              <a:t> </a:t>
            </a:r>
            <a:r>
              <a:rPr lang="fr-FR" sz="1400" b="1" dirty="0">
                <a:sym typeface="Wingdings" pitchFamily="2" charset="2"/>
              </a:rPr>
              <a:t> </a:t>
            </a:r>
            <a:r>
              <a:rPr lang="es-ES_tradnl" sz="1400" dirty="0" err="1">
                <a:solidFill>
                  <a:schemeClr val="bg2">
                    <a:lumMod val="50000"/>
                  </a:schemeClr>
                </a:solidFill>
              </a:rPr>
              <a:t>Collecter</a:t>
            </a:r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les alarmes </a:t>
            </a:r>
            <a:r>
              <a:rPr lang="es-ES_tradnl" sz="1400" dirty="0" err="1">
                <a:solidFill>
                  <a:schemeClr val="bg2">
                    <a:lumMod val="50000"/>
                  </a:schemeClr>
                </a:solidFill>
              </a:rPr>
              <a:t>hétérogènes</a:t>
            </a:r>
            <a:endParaRPr lang="es-ES_tradnl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FR" sz="1400" b="1" dirty="0">
                <a:sym typeface="Wingdings" pitchFamily="2" charset="2"/>
              </a:rPr>
              <a:t></a:t>
            </a:r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es-ES_tradnl" sz="1400" dirty="0" err="1">
                <a:solidFill>
                  <a:schemeClr val="bg2">
                    <a:lumMod val="50000"/>
                  </a:schemeClr>
                </a:solidFill>
              </a:rPr>
              <a:t>Monitorer</a:t>
            </a:r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les </a:t>
            </a:r>
            <a:r>
              <a:rPr lang="es-ES_tradnl" sz="1400" dirty="0" err="1">
                <a:solidFill>
                  <a:schemeClr val="bg2">
                    <a:lumMod val="50000"/>
                  </a:schemeClr>
                </a:solidFill>
              </a:rPr>
              <a:t>éléments</a:t>
            </a:r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_tradnl" sz="1400" dirty="0" err="1">
                <a:solidFill>
                  <a:schemeClr val="bg2">
                    <a:lumMod val="50000"/>
                  </a:schemeClr>
                </a:solidFill>
              </a:rPr>
              <a:t>actifs</a:t>
            </a:r>
            <a:endParaRPr lang="es-ES_tradnl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FR" sz="1400" b="1" dirty="0">
                <a:sym typeface="Wingdings" pitchFamily="2" charset="2"/>
              </a:rPr>
              <a:t></a:t>
            </a:r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  </a:t>
            </a:r>
            <a:r>
              <a:rPr lang="es-ES_tradnl" sz="1400" dirty="0" err="1">
                <a:solidFill>
                  <a:schemeClr val="bg2">
                    <a:lumMod val="50000"/>
                  </a:schemeClr>
                </a:solidFill>
              </a:rPr>
              <a:t>Paramétrer</a:t>
            </a:r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les </a:t>
            </a:r>
            <a:r>
              <a:rPr lang="es-ES_tradnl" sz="1400" dirty="0" err="1">
                <a:solidFill>
                  <a:schemeClr val="bg2">
                    <a:lumMod val="50000"/>
                  </a:schemeClr>
                </a:solidFill>
              </a:rPr>
              <a:t>scenarri</a:t>
            </a:r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de </a:t>
            </a:r>
            <a:r>
              <a:rPr lang="es-ES_tradnl" sz="1400" dirty="0" err="1">
                <a:solidFill>
                  <a:schemeClr val="bg2">
                    <a:lumMod val="50000"/>
                  </a:schemeClr>
                </a:solidFill>
              </a:rPr>
              <a:t>diffusions</a:t>
            </a:r>
            <a:endParaRPr lang="es-ES_tradnl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          </a:t>
            </a:r>
            <a:r>
              <a:rPr lang="es-ES_tradnl" sz="1400" dirty="0" err="1">
                <a:solidFill>
                  <a:schemeClr val="bg2">
                    <a:lumMod val="50000"/>
                  </a:schemeClr>
                </a:solidFill>
              </a:rPr>
              <a:t>d’informations</a:t>
            </a:r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_tradnl" sz="1400" dirty="0" err="1">
                <a:solidFill>
                  <a:schemeClr val="bg2">
                    <a:lumMod val="50000"/>
                  </a:schemeClr>
                </a:solidFill>
              </a:rPr>
              <a:t>vers</a:t>
            </a:r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_tradnl" sz="1400" dirty="0" err="1">
                <a:solidFill>
                  <a:schemeClr val="bg2">
                    <a:lumMod val="50000"/>
                  </a:schemeClr>
                </a:solidFill>
              </a:rPr>
              <a:t>tout</a:t>
            </a:r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_tradnl" sz="1400" dirty="0" err="1">
                <a:solidFill>
                  <a:schemeClr val="bg2">
                    <a:lumMod val="50000"/>
                  </a:schemeClr>
                </a:solidFill>
              </a:rPr>
              <a:t>média</a:t>
            </a:r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r>
              <a:rPr lang="es-ES_tradnl" sz="1400" dirty="0">
                <a:solidFill>
                  <a:schemeClr val="accent3">
                    <a:lumMod val="95000"/>
                  </a:schemeClr>
                </a:solidFill>
              </a:rPr>
              <a:t> </a:t>
            </a:r>
          </a:p>
          <a:p>
            <a:pPr>
              <a:buFontTx/>
              <a:buChar char="•"/>
            </a:pPr>
            <a:endParaRPr lang="es-ES_tradnl" sz="1400" dirty="0">
              <a:solidFill>
                <a:schemeClr val="accent3">
                  <a:lumMod val="95000"/>
                </a:schemeClr>
              </a:solidFill>
            </a:endParaRPr>
          </a:p>
          <a:p>
            <a:endParaRPr lang="es-ES_tradnl" sz="1400" dirty="0">
              <a:solidFill>
                <a:schemeClr val="accent3">
                  <a:lumMod val="95000"/>
                </a:schemeClr>
              </a:solidFill>
            </a:endParaRPr>
          </a:p>
          <a:p>
            <a:endParaRPr lang="es-ES_tradnl" sz="1400" dirty="0">
              <a:solidFill>
                <a:schemeClr val="accent3">
                  <a:lumMod val="95000"/>
                </a:schemeClr>
              </a:solidFill>
            </a:endParaRPr>
          </a:p>
          <a:p>
            <a:endParaRPr lang="es-ES_tradnl" sz="1400" dirty="0">
              <a:solidFill>
                <a:schemeClr val="accent3">
                  <a:lumMod val="95000"/>
                </a:schemeClr>
              </a:solidFill>
            </a:endParaRPr>
          </a:p>
          <a:p>
            <a:r>
              <a:rPr lang="es-ES_tradnl" sz="1400" dirty="0">
                <a:solidFill>
                  <a:schemeClr val="accent3">
                    <a:lumMod val="95000"/>
                  </a:schemeClr>
                </a:solidFill>
              </a:rPr>
              <a:t> </a:t>
            </a:r>
            <a:r>
              <a:rPr lang="fr-FR" sz="1400" b="1" dirty="0">
                <a:sym typeface="Wingdings" pitchFamily="2" charset="2"/>
              </a:rPr>
              <a:t></a:t>
            </a:r>
            <a:r>
              <a:rPr lang="es-ES_tradnl" sz="1400" dirty="0">
                <a:solidFill>
                  <a:schemeClr val="accent3">
                    <a:lumMod val="95000"/>
                  </a:schemeClr>
                </a:solidFill>
              </a:rPr>
              <a:t>  </a:t>
            </a:r>
            <a:r>
              <a:rPr lang="es-ES_tradnl" sz="1400" dirty="0" err="1">
                <a:solidFill>
                  <a:schemeClr val="bg2">
                    <a:lumMod val="50000"/>
                  </a:schemeClr>
                </a:solidFill>
              </a:rPr>
              <a:t>Traçer</a:t>
            </a:r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les </a:t>
            </a:r>
            <a:r>
              <a:rPr lang="es-ES_tradnl" sz="1400" dirty="0" err="1">
                <a:solidFill>
                  <a:schemeClr val="bg2">
                    <a:lumMod val="50000"/>
                  </a:schemeClr>
                </a:solidFill>
              </a:rPr>
              <a:t>événements</a:t>
            </a:r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          du </a:t>
            </a:r>
            <a:r>
              <a:rPr lang="es-ES_tradnl" sz="1400" dirty="0" err="1">
                <a:solidFill>
                  <a:schemeClr val="bg2">
                    <a:lumMod val="50000"/>
                  </a:schemeClr>
                </a:solidFill>
              </a:rPr>
              <a:t>site</a:t>
            </a:r>
            <a:r>
              <a:rPr lang="es-ES_tradnl" sz="1400" dirty="0">
                <a:solidFill>
                  <a:schemeClr val="bg2">
                    <a:lumMod val="50000"/>
                  </a:schemeClr>
                </a:solidFill>
              </a:rPr>
              <a:t> 24/24 </a:t>
            </a:r>
          </a:p>
        </p:txBody>
      </p:sp>
      <p:pic>
        <p:nvPicPr>
          <p:cNvPr id="92" name="Picture 27" descr="F:\DIALYSE\Ipx800.jpg">
            <a:extLst>
              <a:ext uri="{FF2B5EF4-FFF2-40B4-BE49-F238E27FC236}">
                <a16:creationId xmlns:a16="http://schemas.microsoft.com/office/drawing/2014/main" id="{15ACF835-A60A-FFEB-8094-5AA743DB4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024374" y="3561830"/>
            <a:ext cx="688460" cy="664603"/>
          </a:xfrm>
          <a:prstGeom prst="rect">
            <a:avLst/>
          </a:prstGeom>
          <a:noFill/>
        </p:spPr>
      </p:pic>
      <p:grpSp>
        <p:nvGrpSpPr>
          <p:cNvPr id="93" name="Group 19">
            <a:extLst>
              <a:ext uri="{FF2B5EF4-FFF2-40B4-BE49-F238E27FC236}">
                <a16:creationId xmlns:a16="http://schemas.microsoft.com/office/drawing/2014/main" id="{F65EFA01-6E77-6C87-7864-8F2422A5143D}"/>
              </a:ext>
            </a:extLst>
          </p:cNvPr>
          <p:cNvGrpSpPr>
            <a:grpSpLocks/>
          </p:cNvGrpSpPr>
          <p:nvPr/>
        </p:nvGrpSpPr>
        <p:grpSpPr bwMode="auto">
          <a:xfrm>
            <a:off x="7784842" y="3725839"/>
            <a:ext cx="720080" cy="412055"/>
            <a:chOff x="2640" y="1152"/>
            <a:chExt cx="1536" cy="864"/>
          </a:xfrm>
        </p:grpSpPr>
        <p:sp>
          <p:nvSpPr>
            <p:cNvPr id="94" name="Freeform 20">
              <a:extLst>
                <a:ext uri="{FF2B5EF4-FFF2-40B4-BE49-F238E27FC236}">
                  <a16:creationId xmlns:a16="http://schemas.microsoft.com/office/drawing/2014/main" id="{D5ABDC42-59FA-392D-E8F8-A0D68C4F7EF1}"/>
                </a:ext>
              </a:extLst>
            </p:cNvPr>
            <p:cNvSpPr>
              <a:spLocks/>
            </p:cNvSpPr>
            <p:nvPr/>
          </p:nvSpPr>
          <p:spPr bwMode="auto">
            <a:xfrm rot="237451">
              <a:off x="2640" y="1152"/>
              <a:ext cx="1536" cy="864"/>
            </a:xfrm>
            <a:custGeom>
              <a:avLst/>
              <a:gdLst>
                <a:gd name="T0" fmla="*/ 61 w 732"/>
                <a:gd name="T1" fmla="*/ 150 h 352"/>
                <a:gd name="T2" fmla="*/ 30 w 732"/>
                <a:gd name="T3" fmla="*/ 166 h 352"/>
                <a:gd name="T4" fmla="*/ 8 w 732"/>
                <a:gd name="T5" fmla="*/ 189 h 352"/>
                <a:gd name="T6" fmla="*/ 0 w 732"/>
                <a:gd name="T7" fmla="*/ 216 h 352"/>
                <a:gd name="T8" fmla="*/ 2 w 732"/>
                <a:gd name="T9" fmla="*/ 240 h 352"/>
                <a:gd name="T10" fmla="*/ 10 w 732"/>
                <a:gd name="T11" fmla="*/ 253 h 352"/>
                <a:gd name="T12" fmla="*/ 29 w 732"/>
                <a:gd name="T13" fmla="*/ 272 h 352"/>
                <a:gd name="T14" fmla="*/ 67 w 732"/>
                <a:gd name="T15" fmla="*/ 291 h 352"/>
                <a:gd name="T16" fmla="*/ 115 w 732"/>
                <a:gd name="T17" fmla="*/ 301 h 352"/>
                <a:gd name="T18" fmla="*/ 149 w 732"/>
                <a:gd name="T19" fmla="*/ 310 h 352"/>
                <a:gd name="T20" fmla="*/ 173 w 732"/>
                <a:gd name="T21" fmla="*/ 326 h 352"/>
                <a:gd name="T22" fmla="*/ 203 w 732"/>
                <a:gd name="T23" fmla="*/ 339 h 352"/>
                <a:gd name="T24" fmla="*/ 238 w 732"/>
                <a:gd name="T25" fmla="*/ 344 h 352"/>
                <a:gd name="T26" fmla="*/ 278 w 732"/>
                <a:gd name="T27" fmla="*/ 342 h 352"/>
                <a:gd name="T28" fmla="*/ 317 w 732"/>
                <a:gd name="T29" fmla="*/ 333 h 352"/>
                <a:gd name="T30" fmla="*/ 347 w 732"/>
                <a:gd name="T31" fmla="*/ 334 h 352"/>
                <a:gd name="T32" fmla="*/ 381 w 732"/>
                <a:gd name="T33" fmla="*/ 347 h 352"/>
                <a:gd name="T34" fmla="*/ 422 w 732"/>
                <a:gd name="T35" fmla="*/ 352 h 352"/>
                <a:gd name="T36" fmla="*/ 465 w 732"/>
                <a:gd name="T37" fmla="*/ 350 h 352"/>
                <a:gd name="T38" fmla="*/ 523 w 732"/>
                <a:gd name="T39" fmla="*/ 334 h 352"/>
                <a:gd name="T40" fmla="*/ 577 w 732"/>
                <a:gd name="T41" fmla="*/ 302 h 352"/>
                <a:gd name="T42" fmla="*/ 597 w 732"/>
                <a:gd name="T43" fmla="*/ 282 h 352"/>
                <a:gd name="T44" fmla="*/ 662 w 732"/>
                <a:gd name="T45" fmla="*/ 267 h 352"/>
                <a:gd name="T46" fmla="*/ 705 w 732"/>
                <a:gd name="T47" fmla="*/ 246 h 352"/>
                <a:gd name="T48" fmla="*/ 728 w 732"/>
                <a:gd name="T49" fmla="*/ 219 h 352"/>
                <a:gd name="T50" fmla="*/ 731 w 732"/>
                <a:gd name="T51" fmla="*/ 206 h 352"/>
                <a:gd name="T52" fmla="*/ 731 w 732"/>
                <a:gd name="T53" fmla="*/ 192 h 352"/>
                <a:gd name="T54" fmla="*/ 721 w 732"/>
                <a:gd name="T55" fmla="*/ 168 h 352"/>
                <a:gd name="T56" fmla="*/ 704 w 732"/>
                <a:gd name="T57" fmla="*/ 147 h 352"/>
                <a:gd name="T58" fmla="*/ 680 w 732"/>
                <a:gd name="T59" fmla="*/ 133 h 352"/>
                <a:gd name="T60" fmla="*/ 653 w 732"/>
                <a:gd name="T61" fmla="*/ 112 h 352"/>
                <a:gd name="T62" fmla="*/ 653 w 732"/>
                <a:gd name="T63" fmla="*/ 94 h 352"/>
                <a:gd name="T64" fmla="*/ 643 w 732"/>
                <a:gd name="T65" fmla="*/ 74 h 352"/>
                <a:gd name="T66" fmla="*/ 619 w 732"/>
                <a:gd name="T67" fmla="*/ 50 h 352"/>
                <a:gd name="T68" fmla="*/ 584 w 732"/>
                <a:gd name="T69" fmla="*/ 34 h 352"/>
                <a:gd name="T70" fmla="*/ 541 w 732"/>
                <a:gd name="T71" fmla="*/ 29 h 352"/>
                <a:gd name="T72" fmla="*/ 493 w 732"/>
                <a:gd name="T73" fmla="*/ 40 h 352"/>
                <a:gd name="T74" fmla="*/ 467 w 732"/>
                <a:gd name="T75" fmla="*/ 22 h 352"/>
                <a:gd name="T76" fmla="*/ 433 w 732"/>
                <a:gd name="T77" fmla="*/ 10 h 352"/>
                <a:gd name="T78" fmla="*/ 354 w 732"/>
                <a:gd name="T79" fmla="*/ 0 h 352"/>
                <a:gd name="T80" fmla="*/ 270 w 732"/>
                <a:gd name="T81" fmla="*/ 14 h 352"/>
                <a:gd name="T82" fmla="*/ 238 w 732"/>
                <a:gd name="T83" fmla="*/ 30 h 352"/>
                <a:gd name="T84" fmla="*/ 216 w 732"/>
                <a:gd name="T85" fmla="*/ 50 h 352"/>
                <a:gd name="T86" fmla="*/ 163 w 732"/>
                <a:gd name="T87" fmla="*/ 48 h 352"/>
                <a:gd name="T88" fmla="*/ 123 w 732"/>
                <a:gd name="T89" fmla="*/ 59 h 352"/>
                <a:gd name="T90" fmla="*/ 94 w 732"/>
                <a:gd name="T91" fmla="*/ 82 h 352"/>
                <a:gd name="T92" fmla="*/ 78 w 732"/>
                <a:gd name="T93" fmla="*/ 109 h 352"/>
                <a:gd name="T94" fmla="*/ 77 w 732"/>
                <a:gd name="T95" fmla="*/ 131 h 352"/>
                <a:gd name="T96" fmla="*/ 80 w 732"/>
                <a:gd name="T97" fmla="*/ 146 h 35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32"/>
                <a:gd name="T148" fmla="*/ 0 h 352"/>
                <a:gd name="T149" fmla="*/ 732 w 732"/>
                <a:gd name="T150" fmla="*/ 352 h 35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32" h="352">
                  <a:moveTo>
                    <a:pt x="80" y="147"/>
                  </a:moveTo>
                  <a:lnTo>
                    <a:pt x="61" y="150"/>
                  </a:lnTo>
                  <a:lnTo>
                    <a:pt x="45" y="158"/>
                  </a:lnTo>
                  <a:lnTo>
                    <a:pt x="30" y="166"/>
                  </a:lnTo>
                  <a:lnTo>
                    <a:pt x="18" y="178"/>
                  </a:lnTo>
                  <a:lnTo>
                    <a:pt x="8" y="189"/>
                  </a:lnTo>
                  <a:lnTo>
                    <a:pt x="2" y="202"/>
                  </a:lnTo>
                  <a:lnTo>
                    <a:pt x="0" y="216"/>
                  </a:lnTo>
                  <a:lnTo>
                    <a:pt x="0" y="232"/>
                  </a:lnTo>
                  <a:lnTo>
                    <a:pt x="2" y="240"/>
                  </a:lnTo>
                  <a:lnTo>
                    <a:pt x="5" y="246"/>
                  </a:lnTo>
                  <a:lnTo>
                    <a:pt x="10" y="253"/>
                  </a:lnTo>
                  <a:lnTo>
                    <a:pt x="14" y="261"/>
                  </a:lnTo>
                  <a:lnTo>
                    <a:pt x="29" y="272"/>
                  </a:lnTo>
                  <a:lnTo>
                    <a:pt x="46" y="283"/>
                  </a:lnTo>
                  <a:lnTo>
                    <a:pt x="67" y="291"/>
                  </a:lnTo>
                  <a:lnTo>
                    <a:pt x="91" y="298"/>
                  </a:lnTo>
                  <a:lnTo>
                    <a:pt x="115" y="301"/>
                  </a:lnTo>
                  <a:lnTo>
                    <a:pt x="139" y="301"/>
                  </a:lnTo>
                  <a:lnTo>
                    <a:pt x="149" y="310"/>
                  </a:lnTo>
                  <a:lnTo>
                    <a:pt x="160" y="320"/>
                  </a:lnTo>
                  <a:lnTo>
                    <a:pt x="173" y="326"/>
                  </a:lnTo>
                  <a:lnTo>
                    <a:pt x="187" y="333"/>
                  </a:lnTo>
                  <a:lnTo>
                    <a:pt x="203" y="339"/>
                  </a:lnTo>
                  <a:lnTo>
                    <a:pt x="219" y="342"/>
                  </a:lnTo>
                  <a:lnTo>
                    <a:pt x="238" y="344"/>
                  </a:lnTo>
                  <a:lnTo>
                    <a:pt x="258" y="344"/>
                  </a:lnTo>
                  <a:lnTo>
                    <a:pt x="278" y="342"/>
                  </a:lnTo>
                  <a:lnTo>
                    <a:pt x="298" y="339"/>
                  </a:lnTo>
                  <a:lnTo>
                    <a:pt x="317" y="333"/>
                  </a:lnTo>
                  <a:lnTo>
                    <a:pt x="333" y="326"/>
                  </a:lnTo>
                  <a:lnTo>
                    <a:pt x="347" y="334"/>
                  </a:lnTo>
                  <a:lnTo>
                    <a:pt x="363" y="341"/>
                  </a:lnTo>
                  <a:lnTo>
                    <a:pt x="381" y="347"/>
                  </a:lnTo>
                  <a:lnTo>
                    <a:pt x="401" y="350"/>
                  </a:lnTo>
                  <a:lnTo>
                    <a:pt x="422" y="352"/>
                  </a:lnTo>
                  <a:lnTo>
                    <a:pt x="443" y="352"/>
                  </a:lnTo>
                  <a:lnTo>
                    <a:pt x="465" y="350"/>
                  </a:lnTo>
                  <a:lnTo>
                    <a:pt x="488" y="346"/>
                  </a:lnTo>
                  <a:lnTo>
                    <a:pt x="523" y="334"/>
                  </a:lnTo>
                  <a:lnTo>
                    <a:pt x="553" y="320"/>
                  </a:lnTo>
                  <a:lnTo>
                    <a:pt x="577" y="302"/>
                  </a:lnTo>
                  <a:lnTo>
                    <a:pt x="589" y="293"/>
                  </a:lnTo>
                  <a:lnTo>
                    <a:pt x="597" y="282"/>
                  </a:lnTo>
                  <a:lnTo>
                    <a:pt x="633" y="277"/>
                  </a:lnTo>
                  <a:lnTo>
                    <a:pt x="662" y="267"/>
                  </a:lnTo>
                  <a:lnTo>
                    <a:pt x="686" y="258"/>
                  </a:lnTo>
                  <a:lnTo>
                    <a:pt x="705" y="246"/>
                  </a:lnTo>
                  <a:lnTo>
                    <a:pt x="718" y="234"/>
                  </a:lnTo>
                  <a:lnTo>
                    <a:pt x="728" y="219"/>
                  </a:lnTo>
                  <a:lnTo>
                    <a:pt x="729" y="213"/>
                  </a:lnTo>
                  <a:lnTo>
                    <a:pt x="731" y="206"/>
                  </a:lnTo>
                  <a:lnTo>
                    <a:pt x="732" y="200"/>
                  </a:lnTo>
                  <a:lnTo>
                    <a:pt x="731" y="192"/>
                  </a:lnTo>
                  <a:lnTo>
                    <a:pt x="728" y="179"/>
                  </a:lnTo>
                  <a:lnTo>
                    <a:pt x="721" y="168"/>
                  </a:lnTo>
                  <a:lnTo>
                    <a:pt x="713" y="157"/>
                  </a:lnTo>
                  <a:lnTo>
                    <a:pt x="704" y="147"/>
                  </a:lnTo>
                  <a:lnTo>
                    <a:pt x="693" y="139"/>
                  </a:lnTo>
                  <a:lnTo>
                    <a:pt x="680" y="133"/>
                  </a:lnTo>
                  <a:lnTo>
                    <a:pt x="651" y="122"/>
                  </a:lnTo>
                  <a:lnTo>
                    <a:pt x="653" y="112"/>
                  </a:lnTo>
                  <a:lnTo>
                    <a:pt x="653" y="102"/>
                  </a:lnTo>
                  <a:lnTo>
                    <a:pt x="653" y="94"/>
                  </a:lnTo>
                  <a:lnTo>
                    <a:pt x="649" y="88"/>
                  </a:lnTo>
                  <a:lnTo>
                    <a:pt x="643" y="74"/>
                  </a:lnTo>
                  <a:lnTo>
                    <a:pt x="632" y="61"/>
                  </a:lnTo>
                  <a:lnTo>
                    <a:pt x="619" y="50"/>
                  </a:lnTo>
                  <a:lnTo>
                    <a:pt x="601" y="40"/>
                  </a:lnTo>
                  <a:lnTo>
                    <a:pt x="584" y="34"/>
                  </a:lnTo>
                  <a:lnTo>
                    <a:pt x="563" y="30"/>
                  </a:lnTo>
                  <a:lnTo>
                    <a:pt x="541" y="29"/>
                  </a:lnTo>
                  <a:lnTo>
                    <a:pt x="515" y="32"/>
                  </a:lnTo>
                  <a:lnTo>
                    <a:pt x="493" y="40"/>
                  </a:lnTo>
                  <a:lnTo>
                    <a:pt x="480" y="30"/>
                  </a:lnTo>
                  <a:lnTo>
                    <a:pt x="467" y="22"/>
                  </a:lnTo>
                  <a:lnTo>
                    <a:pt x="451" y="16"/>
                  </a:lnTo>
                  <a:lnTo>
                    <a:pt x="433" y="10"/>
                  </a:lnTo>
                  <a:lnTo>
                    <a:pt x="397" y="2"/>
                  </a:lnTo>
                  <a:lnTo>
                    <a:pt x="354" y="0"/>
                  </a:lnTo>
                  <a:lnTo>
                    <a:pt x="309" y="5"/>
                  </a:lnTo>
                  <a:lnTo>
                    <a:pt x="270" y="14"/>
                  </a:lnTo>
                  <a:lnTo>
                    <a:pt x="254" y="22"/>
                  </a:lnTo>
                  <a:lnTo>
                    <a:pt x="238" y="30"/>
                  </a:lnTo>
                  <a:lnTo>
                    <a:pt x="226" y="40"/>
                  </a:lnTo>
                  <a:lnTo>
                    <a:pt x="216" y="50"/>
                  </a:lnTo>
                  <a:lnTo>
                    <a:pt x="190" y="46"/>
                  </a:lnTo>
                  <a:lnTo>
                    <a:pt x="163" y="48"/>
                  </a:lnTo>
                  <a:lnTo>
                    <a:pt x="142" y="53"/>
                  </a:lnTo>
                  <a:lnTo>
                    <a:pt x="123" y="59"/>
                  </a:lnTo>
                  <a:lnTo>
                    <a:pt x="107" y="69"/>
                  </a:lnTo>
                  <a:lnTo>
                    <a:pt x="94" y="82"/>
                  </a:lnTo>
                  <a:lnTo>
                    <a:pt x="85" y="94"/>
                  </a:lnTo>
                  <a:lnTo>
                    <a:pt x="78" y="109"/>
                  </a:lnTo>
                  <a:lnTo>
                    <a:pt x="77" y="123"/>
                  </a:lnTo>
                  <a:lnTo>
                    <a:pt x="77" y="131"/>
                  </a:lnTo>
                  <a:lnTo>
                    <a:pt x="78" y="139"/>
                  </a:lnTo>
                  <a:lnTo>
                    <a:pt x="80" y="146"/>
                  </a:lnTo>
                  <a:lnTo>
                    <a:pt x="80" y="147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AAE5FA"/>
                </a:gs>
              </a:gsLst>
              <a:path path="rect">
                <a:fillToRect l="50000" t="50000" r="50000" b="50000"/>
              </a:path>
            </a:gra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Text Box 21">
              <a:extLst>
                <a:ext uri="{FF2B5EF4-FFF2-40B4-BE49-F238E27FC236}">
                  <a16:creationId xmlns:a16="http://schemas.microsoft.com/office/drawing/2014/main" id="{FCA68493-0216-0215-D992-A3E21AD9E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1468"/>
              <a:ext cx="1104" cy="4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fr-FR" sz="800" dirty="0">
                  <a:solidFill>
                    <a:schemeClr val="tx1"/>
                  </a:solidFill>
                </a:rPr>
                <a:t>TCP/IP</a:t>
              </a:r>
            </a:p>
          </p:txBody>
        </p:sp>
      </p:grpSp>
      <p:pic>
        <p:nvPicPr>
          <p:cNvPr id="96" name="Picture 4" descr="microstis">
            <a:extLst>
              <a:ext uri="{FF2B5EF4-FFF2-40B4-BE49-F238E27FC236}">
                <a16:creationId xmlns:a16="http://schemas.microsoft.com/office/drawing/2014/main" id="{BD7F4904-1A61-D438-BF72-045F6C778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lum bright="8000" contrast="-2000"/>
          </a:blip>
          <a:srcRect/>
          <a:stretch>
            <a:fillRect/>
          </a:stretch>
        </p:blipFill>
        <p:spPr bwMode="auto">
          <a:xfrm>
            <a:off x="8611165" y="3633838"/>
            <a:ext cx="1189901" cy="812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ZoneTexte 99">
            <a:extLst>
              <a:ext uri="{FF2B5EF4-FFF2-40B4-BE49-F238E27FC236}">
                <a16:creationId xmlns:a16="http://schemas.microsoft.com/office/drawing/2014/main" id="{A228F18B-B3F1-8620-7544-6C7116E47268}"/>
              </a:ext>
            </a:extLst>
          </p:cNvPr>
          <p:cNvSpPr txBox="1"/>
          <p:nvPr/>
        </p:nvSpPr>
        <p:spPr>
          <a:xfrm>
            <a:off x="8474649" y="4290214"/>
            <a:ext cx="142875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1" i="1" dirty="0" err="1">
                <a:solidFill>
                  <a:srgbClr val="000000"/>
                </a:solidFill>
                <a:latin typeface="Calibri" pitchFamily="32" charset="0"/>
              </a:rPr>
              <a:t>NephroCall</a:t>
            </a:r>
            <a:r>
              <a:rPr lang="fr-FR" sz="900" b="1" i="1" dirty="0">
                <a:solidFill>
                  <a:srgbClr val="000000"/>
                </a:solidFill>
                <a:latin typeface="Calibri" pitchFamily="32" charset="0"/>
              </a:rPr>
              <a:t> Inside</a:t>
            </a:r>
            <a:endParaRPr lang="fr-FR" sz="900" i="1" dirty="0"/>
          </a:p>
        </p:txBody>
      </p:sp>
    </p:spTree>
    <p:extLst>
      <p:ext uri="{BB962C8B-B14F-4D97-AF65-F5344CB8AC3E}">
        <p14:creationId xmlns:p14="http://schemas.microsoft.com/office/powerpoint/2010/main" val="21529354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108</Words>
  <Application>Microsoft Office PowerPoint</Application>
  <PresentationFormat>Grand écran</PresentationFormat>
  <Paragraphs>30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DRS</dc:creator>
  <cp:lastModifiedBy>DRS</cp:lastModifiedBy>
  <cp:revision>3</cp:revision>
  <dcterms:created xsi:type="dcterms:W3CDTF">2026-01-12T14:21:36Z</dcterms:created>
  <dcterms:modified xsi:type="dcterms:W3CDTF">2026-01-12T14:37:02Z</dcterms:modified>
</cp:coreProperties>
</file>