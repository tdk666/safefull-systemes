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09F1A1-8FD1-ED16-551C-4D0CD428A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74148FE-E050-EC68-2970-F56B3FBFD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EDC6CC-9922-73EC-F458-10D020E5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A227A2-FCE2-36C1-C3EB-B900A908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BBA9DC-4A0E-0181-3E9E-39F225EC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84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E4FEC9-FC89-22A9-1102-FB2DE30A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FA2B93-825C-CB25-99C3-29F51152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912444-D63B-004A-3ECC-6C256A4D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63892E-0451-5F11-963C-96C6CF78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766E7C-EE79-7526-B356-1FABC803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43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38CC2-A899-9F7F-72F8-CFEB0DCB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0B85BD-3845-DB9B-34E9-FF10F4FC4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D19F51-0FEB-8812-1F5A-E959AFE3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5D7B36-F88A-D41E-98D0-FF3915CB0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95AF6C-079C-A450-553D-E683591B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80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2E0593-A8EF-FD1D-3341-9FBB7839A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E61A22-C9D6-7E29-2D2E-9DCDAEB14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482D01-F4E9-3117-FA29-6A68073FC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0CBDBB-32D8-06FB-2857-552EE8EB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0BCDA9-3BE8-6BDD-EEB5-ED91DF5D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BA1204-18C2-9C59-3CC2-D7871660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676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9666C-7560-714C-73E0-86F7BF9F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369ADD-6A4E-2785-C2CF-B07B1595C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82516A-7138-2156-5F70-0E89E8C30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AF8737E-11EE-E2B5-C198-79ABA08C2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EC71D99-2E1C-0E8E-C600-8AD04F784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B19650E-77E5-A04B-AC28-DF814003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8FAE417-4D62-78A6-E583-7E9BD703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C433B2-F0E3-E9DE-3310-F3F63480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00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69F218-47DF-664E-9584-C58090D3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4CBCFA-47C4-FE13-6DFA-618F02F9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B83466-63B8-FEDD-F45A-FE2659964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A03428-30E5-0DE4-9F72-25C977C1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787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6375B75-0F26-5418-A9BE-941A0C3A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C153E39-0C38-21C7-06C0-1E20CED7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EDAFC4-FCEA-D7B9-8622-F1AE6101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4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BA3F66-86A6-D6F1-C3AA-07692D111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20938B-31AF-554C-8F10-BE9D45DB3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B186C9-4E02-C977-B336-763E5AD24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A8845D-AF20-35EA-D2B9-5A283F62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0AF725-33C6-9268-6D8F-FF377765D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B34C06-14A0-DC81-0FB1-28AE3FFB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10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98BAD-0793-7BA2-EA27-E5E28338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DE014E8-86D2-2A5A-9CEC-A206C40A7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F405BF-C506-6C30-E1C5-5BE5655EB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DF2C1-BE76-A0BF-68FF-D6760682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3C3F76-D5F8-2112-768F-80F4865E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ABC672-7DF9-A42A-6F6D-BF197388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00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A21DA7-6C3A-98C7-93A7-FC633A2A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7EEA06-B257-4458-11FF-61539EEEF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97731A-A319-3E55-D787-0AD8B5E7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8AB649-D4A7-0AE9-E77D-E19228EE7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FF3D36-C884-D4F8-1A84-169C6AC4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8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4528925-ABF8-B13E-E26E-56AD926E2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28E990-676B-79A1-2CC4-664B725BD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BDDD9E-6A54-1590-EDEA-862BD003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A7B432-CA85-162A-F0AF-07EE40C3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1BCA4A-69AD-AEF6-EF88-9DFDD56B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384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5C99B86-69DD-54DC-ABD7-30E9A425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B5264F-EFE8-9377-404D-3E8A71C6C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6489A2-32DC-058A-742C-9F9C43F69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D43A6-19D3-4298-9D8F-2BEBBD7B7B68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E59E15-DD0D-BDAA-40BF-9F0C7FF39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0C4753-6996-C2A7-DBF3-3428C6354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63E6A-7C2A-486E-9E20-E028682F3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27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448877C8-DF04-0B79-B80E-DBA30360E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859" y="-310565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4000" b="1" dirty="0" err="1">
                <a:solidFill>
                  <a:srgbClr val="000000"/>
                </a:solidFill>
                <a:latin typeface="Calibri" pitchFamily="32" charset="0"/>
              </a:rPr>
              <a:t>NephroCall</a:t>
            </a:r>
            <a:r>
              <a:rPr lang="fr-FR" sz="4000" dirty="0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fr-FR" sz="2400" i="1" dirty="0">
                <a:solidFill>
                  <a:srgbClr val="0070C0"/>
                </a:solidFill>
                <a:latin typeface="Calibri" pitchFamily="32" charset="0"/>
              </a:rPr>
              <a:t>by</a:t>
            </a:r>
            <a:endParaRPr lang="fr-FR" sz="3600" dirty="0">
              <a:solidFill>
                <a:srgbClr val="0070C0"/>
              </a:solidFill>
              <a:latin typeface="Calibri" pitchFamily="32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87CB669-BBF8-93BD-299C-8E70C745E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7925" y="2320925"/>
            <a:ext cx="858838" cy="317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AutoShape 7">
            <a:extLst>
              <a:ext uri="{FF2B5EF4-FFF2-40B4-BE49-F238E27FC236}">
                <a16:creationId xmlns:a16="http://schemas.microsoft.com/office/drawing/2014/main" id="{09778C89-DC27-FA63-FBED-F995BA76628C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867107" y="5481565"/>
            <a:ext cx="1785100" cy="387876"/>
          </a:xfrm>
          <a:prstGeom prst="bentConnector3">
            <a:avLst>
              <a:gd name="adj1" fmla="val 50000"/>
            </a:avLst>
          </a:prstGeom>
          <a:noFill/>
          <a:ln w="76200">
            <a:solidFill>
              <a:schemeClr val="accent1">
                <a:lumMod val="75000"/>
              </a:schemeClr>
            </a:solidFill>
            <a:miter lim="800000"/>
            <a:headEnd type="triangle" w="med" len="med"/>
            <a:tailEnd/>
          </a:ln>
        </p:spPr>
      </p:cxnSp>
      <p:cxnSp>
        <p:nvCxnSpPr>
          <p:cNvPr id="7" name="AutoShape 8">
            <a:extLst>
              <a:ext uri="{FF2B5EF4-FFF2-40B4-BE49-F238E27FC236}">
                <a16:creationId xmlns:a16="http://schemas.microsoft.com/office/drawing/2014/main" id="{30C3594B-8212-AD67-E569-4FF32FC6BB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867106" y="1990725"/>
            <a:ext cx="1923229" cy="325166"/>
          </a:xfrm>
          <a:prstGeom prst="bentConnector3">
            <a:avLst>
              <a:gd name="adj1" fmla="val 50000"/>
            </a:avLst>
          </a:prstGeom>
          <a:noFill/>
          <a:ln w="76200">
            <a:solidFill>
              <a:srgbClr val="FF0000"/>
            </a:solidFill>
            <a:miter lim="800000"/>
            <a:headEnd/>
            <a:tailEnd type="triangle" w="med" len="med"/>
          </a:ln>
        </p:spPr>
      </p:cxnSp>
      <p:sp>
        <p:nvSpPr>
          <p:cNvPr id="8" name="Line 9">
            <a:extLst>
              <a:ext uri="{FF2B5EF4-FFF2-40B4-BE49-F238E27FC236}">
                <a16:creationId xmlns:a16="http://schemas.microsoft.com/office/drawing/2014/main" id="{869CC099-4165-7766-D314-DECFCA736E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0888" y="4129548"/>
            <a:ext cx="1733550" cy="19532"/>
          </a:xfrm>
          <a:prstGeom prst="line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fr-FR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C1629A1-DCE7-6081-178F-6E5CD6EB1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768" y="1041452"/>
            <a:ext cx="5818187" cy="263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Défaut Centrale Traitement Eau Fresenius</a:t>
            </a:r>
            <a:endParaRPr lang="fr-FR" sz="1100" b="1" i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Défaut Disjoncteur Ascenseur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Défaut Disjoncteur Chaufferie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Défaut Disjoncteur CTA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Défaut Inverseur Normal Secours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Défaut Secteur Secours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Défaut Secteur Normal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Groupe Electrogène Défaut Groupe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Groupe Electrogène Niveau Bas Fuel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Niveau Haut Fosse Pompe relevage Traitement Eau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Défaut Pompes Relevage Traitement Eau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Niveau Haut Pompe Relevage EP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Non Mise en service Auto Centrale Intrusion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Défaut Centrale Intrusion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Dérangement Centrale Incendie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C45B732D-A59D-18E2-6EA3-8B625B83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770" y="3733512"/>
            <a:ext cx="6048672" cy="318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Diffusion scénarisée vers SMS Gsm , Mail ( extension vers DECT internes si infrastructure et protocole disponibles)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Gestion de la sécurité positive avec </a:t>
            </a:r>
            <a:r>
              <a:rPr lang="fr-FR" sz="1100" b="1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auto-test</a:t>
            </a: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paramétrable ( </a:t>
            </a:r>
            <a:r>
              <a:rPr lang="fr-FR" sz="1100" b="1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watch</a:t>
            </a: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Dog) </a:t>
            </a:r>
          </a:p>
          <a:p>
            <a:pPr lvl="1">
              <a:defRPr/>
            </a:pP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du bon fonctionnement de l'infrastructure d'acquisition comme celle de diffusion.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Gestion des principaux équipements du site via Entrées digitales ou analogiques( jusqu'à 32 alarmes primaires via extension)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Possibilité de couplage à des dispositifs appels malades, centrale intrusion, détection Incendie par zone ( selon extension en mode série, </a:t>
            </a:r>
            <a:r>
              <a:rPr lang="fr-FR" sz="1100" b="1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espaa</a:t>
            </a: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, </a:t>
            </a:r>
            <a:r>
              <a:rPr lang="fr-FR" sz="1100" b="1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Opc</a:t>
            </a: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)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Possibilité de télé-piloter des Sortie de type relais ( 8 maximum)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Liste des destinataires non limitée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Gestion des plages horaires pour diffusion différenciée jour/nuit, Semaine/</a:t>
            </a:r>
            <a:r>
              <a:rPr lang="fr-FR" sz="1100" b="1" i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Week</a:t>
            </a:r>
            <a:r>
              <a:rPr lang="fr-FR" sz="1100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End, Exception.</a:t>
            </a:r>
          </a:p>
          <a:p>
            <a:pPr lvl="1">
              <a:defRPr/>
            </a:pPr>
            <a:endParaRPr lang="fr-FR" sz="1100" b="1" i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Historique des alarmes stockées et accessibles via requête .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Assistance au </a:t>
            </a:r>
            <a:r>
              <a:rPr lang="fr-FR" sz="1100" b="1" i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paramètrage</a:t>
            </a:r>
            <a:r>
              <a:rPr lang="fr-FR" sz="1100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</a:t>
            </a:r>
          </a:p>
          <a:p>
            <a:pPr lvl="1">
              <a:buFontTx/>
              <a:buChar char="•"/>
              <a:defRPr/>
            </a:pPr>
            <a:r>
              <a:rPr lang="fr-FR" sz="1100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Fourniture complète du package télé paramétrable : serveur </a:t>
            </a:r>
            <a:r>
              <a:rPr lang="fr-FR" sz="1100" b="1" i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Nephro</a:t>
            </a:r>
            <a:r>
              <a:rPr lang="fr-FR" sz="1100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Call, </a:t>
            </a:r>
            <a:r>
              <a:rPr lang="fr-FR" sz="1100" b="1" i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BoitierIP</a:t>
            </a:r>
            <a:r>
              <a:rPr lang="fr-FR" sz="1100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acquisition   Contacts, passerelle GSM</a:t>
            </a:r>
          </a:p>
          <a:p>
            <a:pPr lvl="1">
              <a:buFontTx/>
              <a:buChar char="•"/>
              <a:defRPr/>
            </a:pPr>
            <a:endParaRPr lang="fr-FR" sz="1400" i="1" dirty="0"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3FA7A1C7-5C6B-F8EC-95E1-C5BD41939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7169" y="41210"/>
            <a:ext cx="1222654" cy="81510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12" name="Text Box 5">
            <a:extLst>
              <a:ext uri="{FF2B5EF4-FFF2-40B4-BE49-F238E27FC236}">
                <a16:creationId xmlns:a16="http://schemas.microsoft.com/office/drawing/2014/main" id="{B3DD5059-F433-4C03-7BAF-93948C616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167" y="482898"/>
            <a:ext cx="4637978" cy="86395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Package de Supervision d'équipements hétérogènes 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Centre de Dialyse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b="1" dirty="0">
                <a:solidFill>
                  <a:srgbClr val="000000"/>
                </a:solidFill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660160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Grand écran</PresentationFormat>
  <Paragraphs>31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DRS</dc:creator>
  <cp:lastModifiedBy>DRS</cp:lastModifiedBy>
  <cp:revision>1</cp:revision>
  <dcterms:created xsi:type="dcterms:W3CDTF">2026-01-12T14:48:12Z</dcterms:created>
  <dcterms:modified xsi:type="dcterms:W3CDTF">2026-01-12T14:48:20Z</dcterms:modified>
</cp:coreProperties>
</file>