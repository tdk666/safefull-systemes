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DEA69-2A68-ABC9-FE51-7974687CC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07CAED-DF56-9B4F-55D4-CCB88C40E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A637C5-59E7-D697-88E6-430A5080A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A95-A18F-46EC-9A7F-B3917BC8BD5B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BCCD29-9632-0229-0C0A-A20C66D91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CF0136-A3A3-8E5F-8076-898357394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A96B-6AD0-4D40-B471-95A62D5C40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587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C5DAA8-E46F-D10C-EDB1-F06A31333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D280A6-368D-C375-ACA6-2C171C7A5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B058E3-9B53-6F2C-A8D2-ECE45963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A95-A18F-46EC-9A7F-B3917BC8BD5B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897C93-E799-D84D-D45C-F5116FF6D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1678CF-6998-386C-A6BF-3FB040CD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A96B-6AD0-4D40-B471-95A62D5C40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94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2BE0E7-4C83-9799-AC4E-37AFEB6A3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B64632-F5A2-6713-76E8-EEE3D2799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335416-13E2-748A-AF48-8D9A6316B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A95-A18F-46EC-9A7F-B3917BC8BD5B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B1A903-B6E4-D5DC-7CAB-535A4E80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7F1B9B-8850-1AF9-F11E-F1EC1924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A96B-6AD0-4D40-B471-95A62D5C40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46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3AE450-0F6B-CB8C-159F-C47D37484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1A013D-FA24-56B6-9271-546E5C07B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4940A3A-FBA0-6629-B786-AD6339206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E7EFAD-44BE-A6CC-2377-1105955C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A95-A18F-46EC-9A7F-B3917BC8BD5B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90DFD1C-7827-0650-9750-C4E2F71DA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D74197-AF45-58B9-307A-C5C193B1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A96B-6AD0-4D40-B471-95A62D5C40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6248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4A97D-AA7F-7D88-0CD3-A9ECA608B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343C2D-6DA1-482A-A91B-6A001633C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F03C69A-9967-B953-2318-4D5B16E36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B34FD58-6311-DD63-1379-65579841B1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66C9F72-A79E-D4F9-9919-516524E9FE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4AF4AC6-37D8-9725-90CD-5CB2E01B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A95-A18F-46EC-9A7F-B3917BC8BD5B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48997AB-47FF-0345-7D1A-11CC8B02C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1045DA1-A7BD-4B4E-73D6-16D6D424F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A96B-6AD0-4D40-B471-95A62D5C40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1972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18F7AE-41BE-66B0-428E-711FAAA40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B63611D-A95A-9199-A0F7-5FF344B46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A95-A18F-46EC-9A7F-B3917BC8BD5B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2F0769-0434-4BCE-46CF-44A639AF9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1E015BA-123F-B377-8D28-045941DA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A96B-6AD0-4D40-B471-95A62D5C40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6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62667F4-E4FF-E719-708B-ADEC3848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A95-A18F-46EC-9A7F-B3917BC8BD5B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3C40F5E-CCE1-772B-6127-836A3AAC3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55ABC8-43C6-4A04-C17B-6BFC20059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A96B-6AD0-4D40-B471-95A62D5C40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042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F990E0-C0F9-2AEF-7ACD-9224498A3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13CB3F-0AF8-EB3C-47D8-378729CFA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97A99C-5DC2-5B08-2DBF-892D75C9A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9C4B60-8938-63AE-407D-DC17E0E8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A95-A18F-46EC-9A7F-B3917BC8BD5B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73E2F9-02F6-1E6C-A043-8ECB2CB2E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9B43C3-5167-07F2-7338-7BFAD0EDA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A96B-6AD0-4D40-B471-95A62D5C40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1063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09F174-7196-DEBA-FFC1-C312FBEF8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96BFA65-D04E-0048-2E87-206C6DC788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C7621CC-A0E2-03BB-5FC9-09EA32BA9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315298-D0A4-A6F6-FFE8-13A1D7363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A95-A18F-46EC-9A7F-B3917BC8BD5B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59576E-F8A4-2CB0-A310-3B1B69231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DE7508-F788-E760-A0A9-A5C9D7559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A96B-6AD0-4D40-B471-95A62D5C40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964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02B357-DB61-9D46-F71F-0B991E84F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D340D3A-9E15-54F3-847D-EF72BD73E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F34F31-D750-6068-699C-2C6555F8B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A95-A18F-46EC-9A7F-B3917BC8BD5B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69DF78-62AC-1AEB-7423-B54758AB5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BA5037-7E0F-42FC-7A55-3E169E21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A96B-6AD0-4D40-B471-95A62D5C40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45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17458A8-9D37-C6AC-CF62-D3B8D0CF30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E125780-875C-E063-28BC-F8DC95F9D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45EB40-52C4-5F6F-F078-F52C9A023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4DA95-A18F-46EC-9A7F-B3917BC8BD5B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F428B6-7108-EB68-CF8E-25F7F2F0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65ED33-7997-1185-40B2-B77B2BB84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A96B-6AD0-4D40-B471-95A62D5C40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635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FB8F9E0-F29F-DD76-1DA4-8CBDC9EA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3DB6E6-2B9B-64F1-6DE7-58DBDE71B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E4756A-99C4-FBDF-7830-49E2056D63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4DA95-A18F-46EC-9A7F-B3917BC8BD5B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665BFA-6CA3-4518-34B4-F89D8C825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D1D7CC-AD12-D97E-1F9D-4C2AD0992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FA96B-6AD0-4D40-B471-95A62D5C40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156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260E465-03E6-600D-6FC5-4BFE3FA7C238}"/>
              </a:ext>
            </a:extLst>
          </p:cNvPr>
          <p:cNvSpPr txBox="1"/>
          <p:nvPr/>
        </p:nvSpPr>
        <p:spPr>
          <a:xfrm>
            <a:off x="2465084" y="117676"/>
            <a:ext cx="73720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4000" b="1" i="1" dirty="0" err="1">
                <a:solidFill>
                  <a:srgbClr val="000000"/>
                </a:solidFill>
                <a:latin typeface="Calibri" pitchFamily="32" charset="0"/>
              </a:rPr>
              <a:t>MutualDroid</a:t>
            </a:r>
            <a:r>
              <a:rPr lang="fr-FR" sz="4000" b="1" i="1" dirty="0">
                <a:solidFill>
                  <a:srgbClr val="000000"/>
                </a:solidFill>
                <a:latin typeface="Calibri" pitchFamily="32" charset="0"/>
              </a:rPr>
              <a:t> </a:t>
            </a:r>
            <a:r>
              <a:rPr lang="fr-FR" sz="2400" b="1" i="1" dirty="0">
                <a:solidFill>
                  <a:srgbClr val="000000"/>
                </a:solidFill>
                <a:latin typeface="Calibri" pitchFamily="32" charset="0"/>
              </a:rPr>
              <a:t>&amp; </a:t>
            </a:r>
            <a:r>
              <a:rPr lang="fr-FR" sz="4000" b="1" i="1" dirty="0" err="1">
                <a:solidFill>
                  <a:srgbClr val="000000"/>
                </a:solidFill>
                <a:latin typeface="Calibri" pitchFamily="32" charset="0"/>
              </a:rPr>
              <a:t>MobeeWeb</a:t>
            </a:r>
            <a:r>
              <a:rPr lang="fr-FR" sz="4000" b="1" i="1" dirty="0">
                <a:solidFill>
                  <a:srgbClr val="000000"/>
                </a:solidFill>
                <a:latin typeface="Calibri" pitchFamily="32" charset="0"/>
              </a:rPr>
              <a:t>   </a:t>
            </a:r>
            <a:r>
              <a:rPr lang="fr-FR" sz="2400" i="1" dirty="0">
                <a:solidFill>
                  <a:srgbClr val="0070C0"/>
                </a:solidFill>
                <a:latin typeface="Calibri" pitchFamily="32" charset="0"/>
              </a:rPr>
              <a:t>by</a:t>
            </a:r>
            <a:endParaRPr lang="fr-FR" sz="2400" dirty="0">
              <a:solidFill>
                <a:srgbClr val="0070C0"/>
              </a:solidFill>
              <a:latin typeface="Calibri" pitchFamily="32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8E4CC2A-271D-9DBA-89A1-428C5CB06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733" y="238634"/>
            <a:ext cx="1618949" cy="1079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2FD2D4A-23F2-8755-C9B3-9765BA6D2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76" y="670744"/>
            <a:ext cx="1295400" cy="2419350"/>
          </a:xfrm>
          <a:prstGeom prst="rect">
            <a:avLst/>
          </a:prstGeom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F19F31EA-E80F-5D21-FF55-85B177347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576" y="1002073"/>
            <a:ext cx="6282813" cy="1990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34963" indent="-334963"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altLang="fr-FR" sz="1400" b="1" dirty="0">
                <a:latin typeface="Calibri" panose="020F0502020204030204" pitchFamily="34" charset="0"/>
                <a:ea typeface="Microsoft YaHei" panose="020B0503020204020204" pitchFamily="34" charset="-122"/>
              </a:rPr>
              <a:t>Gestion paramétrable perte verticalité, immobilité, appel volontaire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altLang="fr-FR" sz="1400" b="1" dirty="0">
                <a:latin typeface="Calibri" panose="020F0502020204030204" pitchFamily="34" charset="0"/>
                <a:ea typeface="Microsoft YaHei" panose="020B0503020204020204" pitchFamily="34" charset="-122"/>
              </a:rPr>
              <a:t>Main libre, haut parleur en Alarme, balise sonore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altLang="fr-FR" sz="1400" b="1" dirty="0" err="1">
                <a:latin typeface="Calibri" panose="020F0502020204030204" pitchFamily="34" charset="0"/>
                <a:ea typeface="Microsoft YaHei" panose="020B0503020204020204" pitchFamily="34" charset="-122"/>
              </a:rPr>
              <a:t>timers</a:t>
            </a:r>
            <a:r>
              <a:rPr lang="fr-FR" altLang="fr-FR" sz="1400" b="1" dirty="0">
                <a:latin typeface="Calibri" panose="020F0502020204030204" pitchFamily="34" charset="0"/>
                <a:ea typeface="Microsoft YaHei" panose="020B0503020204020204" pitchFamily="34" charset="-122"/>
              </a:rPr>
              <a:t> , angles , sensibilité paramétrables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altLang="fr-FR" sz="1400" b="1" dirty="0">
                <a:latin typeface="Calibri" panose="020F0502020204030204" pitchFamily="34" charset="0"/>
                <a:ea typeface="Microsoft YaHei" panose="020B0503020204020204" pitchFamily="34" charset="-122"/>
              </a:rPr>
              <a:t>GPS, Tags BLE compatibles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altLang="fr-FR" sz="1400" b="1" dirty="0">
                <a:latin typeface="Calibri" panose="020F0502020204030204" pitchFamily="34" charset="0"/>
                <a:ea typeface="Microsoft YaHei" panose="020B0503020204020204" pitchFamily="34" charset="-122"/>
              </a:rPr>
              <a:t>Sécurisation des accès paramètres 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altLang="fr-FR" sz="1400" b="1" dirty="0">
                <a:latin typeface="Calibri" panose="020F0502020204030204" pitchFamily="34" charset="0"/>
                <a:ea typeface="Microsoft YaHei" panose="020B0503020204020204" pitchFamily="34" charset="-122"/>
              </a:rPr>
              <a:t>Protection possible Mobile to Mobile ET/OU Mobile to Serveur </a:t>
            </a:r>
            <a:r>
              <a:rPr lang="fr-FR" altLang="fr-FR" sz="1400" b="1" dirty="0" err="1">
                <a:latin typeface="Calibri" panose="020F0502020204030204" pitchFamily="34" charset="0"/>
                <a:ea typeface="Microsoft YaHei" panose="020B0503020204020204" pitchFamily="34" charset="-122"/>
              </a:rPr>
              <a:t>MobeeWeb</a:t>
            </a:r>
            <a:endParaRPr lang="fr-FR" altLang="fr-FR" sz="1400" b="1" dirty="0">
              <a:latin typeface="Calibri" panose="020F0502020204030204" pitchFamily="34" charset="0"/>
              <a:ea typeface="Microsoft YaHei" panose="020B0503020204020204" pitchFamily="34" charset="-122"/>
            </a:endParaRPr>
          </a:p>
          <a:p>
            <a:pPr marL="457200" indent="-4572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fr-FR" altLang="fr-FR" sz="1400" b="1" dirty="0">
              <a:latin typeface="Calibri" panose="020F0502020204030204" pitchFamily="34" charset="0"/>
              <a:ea typeface="Microsoft YaHei" panose="020B0503020204020204" pitchFamily="34" charset="-122"/>
            </a:endParaRPr>
          </a:p>
          <a:p>
            <a:pPr marL="341313">
              <a:spcBef>
                <a:spcPts val="800"/>
              </a:spcBef>
              <a:buClrTx/>
              <a:buFontTx/>
              <a:buNone/>
            </a:pPr>
            <a:endParaRPr lang="fr-FR" altLang="fr-FR" sz="1400" dirty="0">
              <a:latin typeface="Calibri" panose="020F0502020204030204" pitchFamily="34" charset="0"/>
              <a:ea typeface="Microsoft YaHei" panose="020B0503020204020204" pitchFamily="34" charset="-122"/>
            </a:endParaRP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1D884FA-1E73-A0E4-2CF0-CFBF38706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626" y="4549550"/>
            <a:ext cx="3875721" cy="2241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F4295458-4D4C-E5D3-D924-606B78924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239" y="2650316"/>
            <a:ext cx="3585761" cy="2241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97033437-8BD6-C917-BEB5-32D667900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762" y="3947864"/>
            <a:ext cx="1228101" cy="376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208F8577-DA92-E9F0-C0EA-B1F721828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204" y="4167555"/>
            <a:ext cx="3524626" cy="1925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" name="Text Box 3">
            <a:extLst>
              <a:ext uri="{FF2B5EF4-FFF2-40B4-BE49-F238E27FC236}">
                <a16:creationId xmlns:a16="http://schemas.microsoft.com/office/drawing/2014/main" id="{6F261E68-1113-12EF-ECF2-E8D6055C9D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408" y="6239901"/>
            <a:ext cx="1627218" cy="463846"/>
          </a:xfrm>
          <a:prstGeom prst="rect">
            <a:avLst/>
          </a:prstGeom>
          <a:solidFill>
            <a:srgbClr val="FFFF00"/>
          </a:solidFill>
          <a:ln w="936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sz="1200" b="1" dirty="0">
                <a:latin typeface="Calibri" panose="020F0502020204030204" pitchFamily="34" charset="0"/>
              </a:rPr>
              <a:t>Intégration et zonage</a:t>
            </a:r>
          </a:p>
          <a:p>
            <a:pPr>
              <a:buClrTx/>
              <a:buFontTx/>
              <a:buNone/>
            </a:pPr>
            <a:r>
              <a:rPr lang="fr-FR" altLang="fr-FR" sz="1200" b="1" dirty="0">
                <a:latin typeface="Calibri" panose="020F0502020204030204" pitchFamily="34" charset="0"/>
              </a:rPr>
              <a:t> éventuel du site client</a:t>
            </a:r>
          </a:p>
        </p:txBody>
      </p:sp>
      <p:sp>
        <p:nvSpPr>
          <p:cNvPr id="14" name="Oval 4">
            <a:extLst>
              <a:ext uri="{FF2B5EF4-FFF2-40B4-BE49-F238E27FC236}">
                <a16:creationId xmlns:a16="http://schemas.microsoft.com/office/drawing/2014/main" id="{2193A8F7-C8A2-7D83-A175-E8088AE49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245" y="4778477"/>
            <a:ext cx="347790" cy="295630"/>
          </a:xfrm>
          <a:prstGeom prst="ellipse">
            <a:avLst/>
          </a:prstGeom>
          <a:noFill/>
          <a:ln w="2556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C583CBCC-3C06-E194-312E-57F074A0C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9275" y="3610934"/>
            <a:ext cx="2308020" cy="525401"/>
          </a:xfrm>
          <a:prstGeom prst="rect">
            <a:avLst/>
          </a:prstGeom>
          <a:solidFill>
            <a:srgbClr val="FFFF00"/>
          </a:solidFill>
          <a:ln w="936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sz="1200" b="1" dirty="0">
                <a:latin typeface="Calibri" panose="020F0502020204030204" pitchFamily="34" charset="0"/>
              </a:rPr>
              <a:t>Accès aux consignes spécifiques</a:t>
            </a:r>
          </a:p>
          <a:p>
            <a:pPr>
              <a:buClrTx/>
              <a:buFontTx/>
              <a:buNone/>
            </a:pPr>
            <a:r>
              <a:rPr lang="fr-FR" altLang="fr-FR" sz="1200" b="1" dirty="0">
                <a:latin typeface="Calibri" panose="020F0502020204030204" pitchFamily="34" charset="0"/>
              </a:rPr>
              <a:t>de la zone d’incident</a:t>
            </a:r>
            <a:r>
              <a:rPr lang="fr-FR" altLang="fr-FR" sz="1600" b="1" dirty="0"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16" name="AutoShape 6">
            <a:extLst>
              <a:ext uri="{FF2B5EF4-FFF2-40B4-BE49-F238E27FC236}">
                <a16:creationId xmlns:a16="http://schemas.microsoft.com/office/drawing/2014/main" id="{18027795-0985-383E-9D9A-95F0C6EDFE08}"/>
              </a:ext>
            </a:extLst>
          </p:cNvPr>
          <p:cNvSpPr>
            <a:spLocks noChangeArrowheads="1"/>
          </p:cNvSpPr>
          <p:nvPr/>
        </p:nvSpPr>
        <p:spPr bwMode="auto">
          <a:xfrm rot="9257630">
            <a:off x="6969172" y="5316602"/>
            <a:ext cx="151697" cy="936756"/>
          </a:xfrm>
          <a:prstGeom prst="downArrow">
            <a:avLst>
              <a:gd name="adj1" fmla="val 50000"/>
              <a:gd name="adj2" fmla="val 49982"/>
            </a:avLst>
          </a:prstGeom>
          <a:solidFill>
            <a:srgbClr val="FFC00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F870D3A6-04B7-3799-2EDD-4B6735D64B2A}"/>
              </a:ext>
            </a:extLst>
          </p:cNvPr>
          <p:cNvSpPr>
            <a:spLocks noChangeArrowheads="1"/>
          </p:cNvSpPr>
          <p:nvPr/>
        </p:nvSpPr>
        <p:spPr bwMode="auto">
          <a:xfrm rot="480000">
            <a:off x="7165807" y="4154047"/>
            <a:ext cx="143193" cy="728235"/>
          </a:xfrm>
          <a:prstGeom prst="downArrow">
            <a:avLst>
              <a:gd name="adj1" fmla="val 50000"/>
              <a:gd name="adj2" fmla="val 49988"/>
            </a:avLst>
          </a:prstGeom>
          <a:solidFill>
            <a:srgbClr val="FFC000"/>
          </a:solidFill>
          <a:ln w="25560" cap="sq">
            <a:solidFill>
              <a:srgbClr val="385D8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8" name="Text Box 2">
            <a:extLst>
              <a:ext uri="{FF2B5EF4-FFF2-40B4-BE49-F238E27FC236}">
                <a16:creationId xmlns:a16="http://schemas.microsoft.com/office/drawing/2014/main" id="{5295B883-88C2-3128-3F89-64FBBBCFE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8" y="5244847"/>
            <a:ext cx="6282813" cy="161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34963" indent="-334963"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altLang="fr-FR" sz="1400" b="1" dirty="0">
                <a:latin typeface="Calibri" panose="020F0502020204030204" pitchFamily="34" charset="0"/>
                <a:ea typeface="Microsoft YaHei" panose="020B0503020204020204" pitchFamily="34" charset="-122"/>
              </a:rPr>
              <a:t>Gestion sécurisée de la base abonnés </a:t>
            </a:r>
            <a:r>
              <a:rPr lang="fr-FR" altLang="fr-FR" sz="1400" b="1" dirty="0" err="1">
                <a:latin typeface="Calibri" panose="020F0502020204030204" pitchFamily="34" charset="0"/>
                <a:ea typeface="Microsoft YaHei" panose="020B0503020204020204" pitchFamily="34" charset="-122"/>
              </a:rPr>
              <a:t>MutualDroid</a:t>
            </a:r>
            <a:endParaRPr lang="fr-FR" altLang="fr-FR" sz="1400" b="1" dirty="0">
              <a:latin typeface="Calibri" panose="020F0502020204030204" pitchFamily="34" charset="0"/>
              <a:ea typeface="Microsoft YaHei" panose="020B0503020204020204" pitchFamily="34" charset="-122"/>
            </a:endParaRP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altLang="fr-FR" sz="1400" b="1" dirty="0">
                <a:latin typeface="Calibri" panose="020F0502020204030204" pitchFamily="34" charset="0"/>
                <a:ea typeface="Microsoft YaHei" panose="020B0503020204020204" pitchFamily="34" charset="-122"/>
              </a:rPr>
              <a:t>Géolocalisation Temps Réel du mobile en alarme ( </a:t>
            </a:r>
            <a:r>
              <a:rPr lang="fr-FR" altLang="fr-FR" sz="1400" b="1" dirty="0" err="1">
                <a:latin typeface="Calibri" panose="020F0502020204030204" pitchFamily="34" charset="0"/>
                <a:ea typeface="Microsoft YaHei" panose="020B0503020204020204" pitchFamily="34" charset="-122"/>
              </a:rPr>
              <a:t>GoogleMap</a:t>
            </a:r>
            <a:r>
              <a:rPr lang="fr-FR" altLang="fr-FR" sz="1400" b="1" dirty="0">
                <a:latin typeface="Calibri" panose="020F0502020204030204" pitchFamily="34" charset="0"/>
                <a:ea typeface="Microsoft YaHei" panose="020B0503020204020204" pitchFamily="34" charset="-122"/>
              </a:rPr>
              <a:t>,</a:t>
            </a:r>
          </a:p>
          <a:p>
            <a:pPr marL="0" indent="0">
              <a:spcBef>
                <a:spcPts val="400"/>
              </a:spcBef>
            </a:pPr>
            <a:r>
              <a:rPr lang="fr-FR" altLang="fr-FR" sz="1400" b="1" dirty="0">
                <a:latin typeface="Calibri" panose="020F0502020204030204" pitchFamily="34" charset="0"/>
                <a:ea typeface="Microsoft YaHei" panose="020B0503020204020204" pitchFamily="34" charset="-122"/>
              </a:rPr>
              <a:t>       </a:t>
            </a:r>
            <a:r>
              <a:rPr lang="fr-FR" altLang="fr-FR" sz="1400" b="1" dirty="0" err="1">
                <a:latin typeface="Calibri" panose="020F0502020204030204" pitchFamily="34" charset="0"/>
                <a:ea typeface="Microsoft YaHei" panose="020B0503020204020204" pitchFamily="34" charset="-122"/>
              </a:rPr>
              <a:t>GoogleEarth</a:t>
            </a:r>
            <a:r>
              <a:rPr lang="fr-FR" altLang="fr-FR" sz="1400" b="1" dirty="0">
                <a:latin typeface="Calibri" panose="020F0502020204030204" pitchFamily="34" charset="0"/>
                <a:ea typeface="Microsoft YaHei" panose="020B0503020204020204" pitchFamily="34" charset="-122"/>
              </a:rPr>
              <a:t>)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altLang="fr-FR" sz="1400" b="1" dirty="0">
                <a:latin typeface="Calibri" panose="020F0502020204030204" pitchFamily="34" charset="0"/>
                <a:ea typeface="Microsoft YaHei" panose="020B0503020204020204" pitchFamily="34" charset="-122"/>
              </a:rPr>
              <a:t>Renvois automatiques de alarmes géolocalisées vers équipe intervention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altLang="fr-FR" sz="1400" b="1" dirty="0">
                <a:latin typeface="Calibri" panose="020F0502020204030204" pitchFamily="34" charset="0"/>
                <a:ea typeface="Microsoft YaHei" panose="020B0503020204020204" pitchFamily="34" charset="-122"/>
              </a:rPr>
              <a:t>Intégration Plans et Tags BLE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altLang="fr-FR" sz="1400" b="1" dirty="0">
                <a:latin typeface="Calibri" panose="020F0502020204030204" pitchFamily="34" charset="0"/>
                <a:ea typeface="Microsoft YaHei" panose="020B0503020204020204" pitchFamily="34" charset="-122"/>
              </a:rPr>
              <a:t>Gestion des archives  </a:t>
            </a:r>
          </a:p>
          <a:p>
            <a:pPr marL="341313">
              <a:spcBef>
                <a:spcPts val="800"/>
              </a:spcBef>
              <a:buClrTx/>
              <a:buFontTx/>
              <a:buNone/>
            </a:pPr>
            <a:endParaRPr lang="fr-FR" altLang="fr-FR" sz="1400" dirty="0">
              <a:latin typeface="Calibri" panose="020F050202020403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9" name="AutoShape 2">
            <a:extLst>
              <a:ext uri="{FF2B5EF4-FFF2-40B4-BE49-F238E27FC236}">
                <a16:creationId xmlns:a16="http://schemas.microsoft.com/office/drawing/2014/main" id="{5912F85F-5906-887F-4546-D469F7838934}"/>
              </a:ext>
            </a:extLst>
          </p:cNvPr>
          <p:cNvSpPr>
            <a:spLocks noChangeArrowheads="1"/>
          </p:cNvSpPr>
          <p:nvPr/>
        </p:nvSpPr>
        <p:spPr bwMode="auto">
          <a:xfrm rot="1921817">
            <a:off x="972764" y="3948634"/>
            <a:ext cx="3548063" cy="954661"/>
          </a:xfrm>
          <a:prstGeom prst="curvedUpArrow">
            <a:avLst>
              <a:gd name="adj1" fmla="val 93125"/>
              <a:gd name="adj2" fmla="val 186250"/>
              <a:gd name="adj3" fmla="val 33333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61821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103</Words>
  <Application>Microsoft Office PowerPoint</Application>
  <PresentationFormat>Grand écran</PresentationFormat>
  <Paragraphs>17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DRS</dc:creator>
  <cp:lastModifiedBy>DRS</cp:lastModifiedBy>
  <cp:revision>2</cp:revision>
  <dcterms:created xsi:type="dcterms:W3CDTF">2026-01-12T15:26:27Z</dcterms:created>
  <dcterms:modified xsi:type="dcterms:W3CDTF">2026-01-12T15:56:36Z</dcterms:modified>
</cp:coreProperties>
</file>